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57" r:id="rId4"/>
    <p:sldId id="258" r:id="rId5"/>
    <p:sldId id="260" r:id="rId6"/>
    <p:sldId id="274" r:id="rId7"/>
    <p:sldId id="263" r:id="rId8"/>
    <p:sldId id="261" r:id="rId9"/>
    <p:sldId id="265" r:id="rId10"/>
    <p:sldId id="266" r:id="rId11"/>
    <p:sldId id="267" r:id="rId12"/>
    <p:sldId id="269" r:id="rId13"/>
    <p:sldId id="268" r:id="rId14"/>
    <p:sldId id="275" r:id="rId15"/>
    <p:sldId id="270" r:id="rId16"/>
    <p:sldId id="272" r:id="rId17"/>
    <p:sldId id="276" r:id="rId18"/>
    <p:sldId id="277" r:id="rId19"/>
    <p:sldId id="284" r:id="rId20"/>
    <p:sldId id="278" r:id="rId21"/>
    <p:sldId id="283" r:id="rId22"/>
    <p:sldId id="285" r:id="rId23"/>
    <p:sldId id="281" r:id="rId24"/>
    <p:sldId id="282" r:id="rId25"/>
    <p:sldId id="280" r:id="rId26"/>
    <p:sldId id="279" r:id="rId27"/>
    <p:sldId id="26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2" d="100"/>
          <a:sy n="62" d="100"/>
        </p:scale>
        <p:origin x="1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3B188-B65F-40E8-89EC-6FA16CA16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DF360D5-299C-4FF7-B2C3-11E4C7E511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FD40B7-C108-4642-91A4-3A0A69A77A18}"/>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5" name="Footer Placeholder 4">
            <a:extLst>
              <a:ext uri="{FF2B5EF4-FFF2-40B4-BE49-F238E27FC236}">
                <a16:creationId xmlns:a16="http://schemas.microsoft.com/office/drawing/2014/main" id="{C8791775-4564-4EF7-9D12-A288704BC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8E64E4-DC71-4926-BF81-98630CA5E51B}"/>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3627674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9F99-8981-4391-9421-4D19059218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757B8A-18E5-491A-A375-58733A11F3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0F88CF-3344-4E71-B53E-6E1746275A01}"/>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5" name="Footer Placeholder 4">
            <a:extLst>
              <a:ext uri="{FF2B5EF4-FFF2-40B4-BE49-F238E27FC236}">
                <a16:creationId xmlns:a16="http://schemas.microsoft.com/office/drawing/2014/main" id="{0E4EA7C5-5FE0-478C-9659-8EE4A981EF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802CFB-066E-47B5-A1EC-0ED4A23B1616}"/>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884188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68334-B86F-491F-B3DC-826FFA0D00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74EF36-1472-43A1-B1BF-1F93ED7D00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7C5AA5-0B29-43C9-B498-96CAF78C080E}"/>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5" name="Footer Placeholder 4">
            <a:extLst>
              <a:ext uri="{FF2B5EF4-FFF2-40B4-BE49-F238E27FC236}">
                <a16:creationId xmlns:a16="http://schemas.microsoft.com/office/drawing/2014/main" id="{5EC45DBA-30E8-41F4-87AF-F69DADADA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6B6504-7F8B-45F8-960A-1F85A49343E1}"/>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2367559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83D08-8E42-4BAF-BAC7-22E1398650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13795F-AB31-4702-B735-A3EC8B23A6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9AA05C-DF57-4B52-A607-E424641A33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1B7C10-D8EE-4E23-A872-E7AEAA222D2E}"/>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6" name="Footer Placeholder 5">
            <a:extLst>
              <a:ext uri="{FF2B5EF4-FFF2-40B4-BE49-F238E27FC236}">
                <a16:creationId xmlns:a16="http://schemas.microsoft.com/office/drawing/2014/main" id="{BE893538-1C91-45AD-9163-7B9C57A16A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86CE0E-9D0F-48DB-96B9-56B395F0DA36}"/>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2190023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243B-F923-49C5-A253-96F2EFDC6F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F8D954-2F8B-4ABE-8E03-16F974BF99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7DD70A-FFFD-409F-AC0B-A6F609ABE4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C50B78-0F83-428A-9BF5-695024C3F5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6922C8-8B30-4CED-8392-B5773AD601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6E435E-C9A0-4E9A-8410-24B21C54AF90}"/>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8" name="Footer Placeholder 7">
            <a:extLst>
              <a:ext uri="{FF2B5EF4-FFF2-40B4-BE49-F238E27FC236}">
                <a16:creationId xmlns:a16="http://schemas.microsoft.com/office/drawing/2014/main" id="{6BB0FA52-7D55-408C-B7DE-B838064618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718EC5-EA9C-4CE0-BB6E-971A904D8157}"/>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532744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6E542-E6F0-443F-90C5-0AF868377F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4CDDAC-0B07-4AFE-8580-611798F4AAFB}"/>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4" name="Footer Placeholder 3">
            <a:extLst>
              <a:ext uri="{FF2B5EF4-FFF2-40B4-BE49-F238E27FC236}">
                <a16:creationId xmlns:a16="http://schemas.microsoft.com/office/drawing/2014/main" id="{79D6359D-F3BB-469F-9A2B-D1F17DDDF9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20830C-7B40-458F-AA84-5FBADCEF8531}"/>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1867419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63CE31-C08E-4DFA-BAA0-B6EAE56FD6F4}"/>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3" name="Footer Placeholder 2">
            <a:extLst>
              <a:ext uri="{FF2B5EF4-FFF2-40B4-BE49-F238E27FC236}">
                <a16:creationId xmlns:a16="http://schemas.microsoft.com/office/drawing/2014/main" id="{B932E64E-0BA6-4563-BBA5-A35B1F1169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E5EEC8-44CC-4B4E-BA1B-99E7D6A82D29}"/>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4003194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0141B-1DE7-4695-AE02-EDF285E72A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EC71D3-4C0F-4580-8225-2C33369B1F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3FDF2C-6236-46D5-A713-3329C7CF6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D6A4DA-E0BB-41E7-9EAC-6DB9C89663D6}"/>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6" name="Footer Placeholder 5">
            <a:extLst>
              <a:ext uri="{FF2B5EF4-FFF2-40B4-BE49-F238E27FC236}">
                <a16:creationId xmlns:a16="http://schemas.microsoft.com/office/drawing/2014/main" id="{AF5383DA-D35D-4C0C-B5E7-9AF4B0A8AE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3FB76B-ADB6-40C0-9758-DA2E679748C6}"/>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2130267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7127A-BBB7-4B69-8ED1-79264BFFA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D5E0BC-67CA-4FB7-BF16-4F3E1C0D81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8E159E-391E-4EB6-B23A-18516DF623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0A2E66-EEF6-4A87-A32C-54239A3FAEC0}"/>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6" name="Footer Placeholder 5">
            <a:extLst>
              <a:ext uri="{FF2B5EF4-FFF2-40B4-BE49-F238E27FC236}">
                <a16:creationId xmlns:a16="http://schemas.microsoft.com/office/drawing/2014/main" id="{2A0D19E2-AD8D-4BCE-A0BC-EB351424A7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C09E41-CE0C-45DE-A208-FAFA78F183FE}"/>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934664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00FEB-8E42-4CD5-892C-50234F2800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9F0E26-A95E-4F85-A357-D56310F6E1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C75807-F7E9-4B02-A87D-EB83752EDEC6}"/>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5" name="Footer Placeholder 4">
            <a:extLst>
              <a:ext uri="{FF2B5EF4-FFF2-40B4-BE49-F238E27FC236}">
                <a16:creationId xmlns:a16="http://schemas.microsoft.com/office/drawing/2014/main" id="{21D7F87F-7C87-4734-B0EF-2013C3271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88C47-0773-46AB-86C3-8F0E8D767EA0}"/>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3248773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306BF6-81B9-4AF7-909B-523917EC4A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FBB255-054F-4CCF-A7EF-F525F6D0E8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5A0FE1-10C6-4FAC-B469-A79E5496A7E9}"/>
              </a:ext>
            </a:extLst>
          </p:cNvPr>
          <p:cNvSpPr>
            <a:spLocks noGrp="1"/>
          </p:cNvSpPr>
          <p:nvPr>
            <p:ph type="dt" sz="half" idx="10"/>
          </p:nvPr>
        </p:nvSpPr>
        <p:spPr/>
        <p:txBody>
          <a:bodyPr/>
          <a:lstStyle/>
          <a:p>
            <a:fld id="{AD943577-3D55-4FDD-9CDA-8130A9B577CF}" type="datetimeFigureOut">
              <a:rPr lang="en-US" smtClean="0"/>
              <a:t>11/28/2021</a:t>
            </a:fld>
            <a:endParaRPr lang="en-US"/>
          </a:p>
        </p:txBody>
      </p:sp>
      <p:sp>
        <p:nvSpPr>
          <p:cNvPr id="5" name="Footer Placeholder 4">
            <a:extLst>
              <a:ext uri="{FF2B5EF4-FFF2-40B4-BE49-F238E27FC236}">
                <a16:creationId xmlns:a16="http://schemas.microsoft.com/office/drawing/2014/main" id="{F00CEE74-C0BC-4B00-997D-239DA4B1C7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DC684-41BC-4D3C-8440-5EED244E0A80}"/>
              </a:ext>
            </a:extLst>
          </p:cNvPr>
          <p:cNvSpPr>
            <a:spLocks noGrp="1"/>
          </p:cNvSpPr>
          <p:nvPr>
            <p:ph type="sldNum" sz="quarter" idx="12"/>
          </p:nvPr>
        </p:nvSpPr>
        <p:spPr/>
        <p:txBody>
          <a:bodyPr/>
          <a:lstStyle/>
          <a:p>
            <a:fld id="{45B09570-71AC-498F-BA51-D1D4A1FD62AC}" type="slidenum">
              <a:rPr lang="en-US" smtClean="0"/>
              <a:t>‹#›</a:t>
            </a:fld>
            <a:endParaRPr lang="en-US"/>
          </a:p>
        </p:txBody>
      </p:sp>
    </p:spTree>
    <p:extLst>
      <p:ext uri="{BB962C8B-B14F-4D97-AF65-F5344CB8AC3E}">
        <p14:creationId xmlns:p14="http://schemas.microsoft.com/office/powerpoint/2010/main" val="696309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22751B-EA3C-41A3-A900-F28C0B6D6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8D0C1A-FE50-42FE-B525-6E5EDF07BB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514E86-4F68-438F-B3BC-3B331E4053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943577-3D55-4FDD-9CDA-8130A9B577CF}" type="datetimeFigureOut">
              <a:rPr lang="en-US" smtClean="0"/>
              <a:t>11/28/2021</a:t>
            </a:fld>
            <a:endParaRPr lang="en-US"/>
          </a:p>
        </p:txBody>
      </p:sp>
      <p:sp>
        <p:nvSpPr>
          <p:cNvPr id="5" name="Footer Placeholder 4">
            <a:extLst>
              <a:ext uri="{FF2B5EF4-FFF2-40B4-BE49-F238E27FC236}">
                <a16:creationId xmlns:a16="http://schemas.microsoft.com/office/drawing/2014/main" id="{DD821FD0-BC2A-4DCA-8474-792611507C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24CEBB6-3D96-40FF-8C86-437AF4C42A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B09570-71AC-498F-BA51-D1D4A1FD62AC}" type="slidenum">
              <a:rPr lang="en-US" smtClean="0"/>
              <a:t>‹#›</a:t>
            </a:fld>
            <a:endParaRPr lang="en-US"/>
          </a:p>
        </p:txBody>
      </p:sp>
    </p:spTree>
    <p:extLst>
      <p:ext uri="{BB962C8B-B14F-4D97-AF65-F5344CB8AC3E}">
        <p14:creationId xmlns:p14="http://schemas.microsoft.com/office/powerpoint/2010/main" val="100712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Manufacturin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image" Target="../media/image12.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26EE4FD-480F-42A5-9FEB-DA630457C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
            <a:extLst>
              <a:ext uri="{FF2B5EF4-FFF2-40B4-BE49-F238E27FC236}">
                <a16:creationId xmlns:a16="http://schemas.microsoft.com/office/drawing/2014/main" id="{A187062F-BE14-42FC-B06A-607DB238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8" y="1766812"/>
            <a:ext cx="822493"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
            <a:extLst>
              <a:ext uri="{FF2B5EF4-FFF2-40B4-BE49-F238E27FC236}">
                <a16:creationId xmlns:a16="http://schemas.microsoft.com/office/drawing/2014/main" id="{731FE21B-2A45-4BF5-8B03-E1234198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9" y="1423780"/>
            <a:ext cx="687754"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2DC5A94D-79ED-48F5-9DC5-96CBB507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3" y="1239381"/>
            <a:ext cx="3472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Rectangle 8">
            <a:extLst>
              <a:ext uri="{FF2B5EF4-FFF2-40B4-BE49-F238E27FC236}">
                <a16:creationId xmlns:a16="http://schemas.microsoft.com/office/drawing/2014/main" id="{93A3D4BE-AF25-4F9A-9C29-1145CCE2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2" y="1230651"/>
            <a:ext cx="10208658"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715C716B-53D4-4A75-B7C6-8A92C261130A}"/>
              </a:ext>
            </a:extLst>
          </p:cNvPr>
          <p:cNvSpPr>
            <a:spLocks noGrp="1"/>
          </p:cNvSpPr>
          <p:nvPr>
            <p:ph type="ctrTitle"/>
          </p:nvPr>
        </p:nvSpPr>
        <p:spPr>
          <a:xfrm>
            <a:off x="1870997" y="1607809"/>
            <a:ext cx="9236026" cy="2876680"/>
          </a:xfrm>
        </p:spPr>
        <p:txBody>
          <a:bodyPr anchor="b">
            <a:normAutofit fontScale="90000"/>
          </a:bodyPr>
          <a:lstStyle/>
          <a:p>
            <a:pPr marL="0" marR="0" lvl="0" indent="0" algn="l" defTabSz="914400" rtl="0" eaLnBrk="1" fontAlgn="auto" latinLnBrk="0" hangingPunct="1">
              <a:lnSpc>
                <a:spcPct val="100000"/>
              </a:lnSpc>
              <a:spcBef>
                <a:spcPts val="0"/>
              </a:spcBef>
              <a:spcAft>
                <a:spcPts val="0"/>
              </a:spcAft>
              <a:tabLst/>
              <a:defRPr/>
            </a:pPr>
            <a:r>
              <a:rPr kumimoji="0" lang="en-US" sz="4400" b="1" i="0" u="none" strike="noStrike" kern="1200" cap="none" spc="50" normalizeH="0" baseline="0" noProof="0" dirty="0">
                <a:ln w="11430"/>
                <a:solidFill>
                  <a:prstClr val="white"/>
                </a:solidFill>
                <a:effectLst>
                  <a:outerShdw blurRad="76200" dist="50800" dir="5400000" algn="tl" rotWithShape="0">
                    <a:srgbClr val="000000">
                      <a:alpha val="65000"/>
                    </a:srgbClr>
                  </a:outerShdw>
                </a:effectLst>
                <a:uLnTx/>
                <a:uFillTx/>
                <a:latin typeface="Times New Roman" pitchFamily="18" charset="0"/>
                <a:ea typeface="+mn-ea"/>
                <a:cs typeface="Times New Roman" pitchFamily="18" charset="0"/>
              </a:rPr>
              <a:t>Laser Surface  Texturing of </a:t>
            </a:r>
            <a:r>
              <a:rPr kumimoji="0" lang="en-US" sz="4400" b="1" i="0" u="none" strike="noStrike" kern="1200" cap="none" spc="50" normalizeH="0" baseline="0" noProof="0" dirty="0" err="1">
                <a:ln w="11430"/>
                <a:solidFill>
                  <a:prstClr val="white"/>
                </a:solidFill>
                <a:effectLst>
                  <a:outerShdw blurRad="76200" dist="50800" dir="5400000" algn="tl" rotWithShape="0">
                    <a:srgbClr val="000000">
                      <a:alpha val="65000"/>
                    </a:srgbClr>
                  </a:outerShdw>
                </a:effectLst>
                <a:uLnTx/>
                <a:uFillTx/>
                <a:latin typeface="Times New Roman" pitchFamily="18" charset="0"/>
                <a:ea typeface="+mn-ea"/>
                <a:cs typeface="Times New Roman" pitchFamily="18" charset="0"/>
              </a:rPr>
              <a:t>Aluminium</a:t>
            </a:r>
            <a:r>
              <a:rPr kumimoji="0" lang="en-US" sz="4400" b="1" i="0" u="none" strike="noStrike" kern="1200" cap="none" spc="50" normalizeH="0" baseline="0" noProof="0" dirty="0">
                <a:ln w="11430"/>
                <a:solidFill>
                  <a:prstClr val="white"/>
                </a:solidFill>
                <a:effectLst>
                  <a:outerShdw blurRad="76200" dist="50800" dir="5400000" algn="tl" rotWithShape="0">
                    <a:srgbClr val="000000">
                      <a:alpha val="65000"/>
                    </a:srgbClr>
                  </a:outerShdw>
                </a:effectLst>
                <a:uLnTx/>
                <a:uFillTx/>
                <a:latin typeface="Times New Roman" pitchFamily="18" charset="0"/>
                <a:ea typeface="+mn-ea"/>
                <a:cs typeface="Times New Roman" pitchFamily="18" charset="0"/>
              </a:rPr>
              <a:t> Alloy for Bearing </a:t>
            </a:r>
            <a:r>
              <a:rPr kumimoji="0" lang="en-US" sz="4400" b="1" i="0" u="none" strike="noStrike" kern="1200" cap="none" spc="50" normalizeH="0" baseline="0" noProof="0" dirty="0">
                <a:ln w="11430"/>
                <a:solidFill>
                  <a:prstClr val="white"/>
                </a:solidFill>
                <a:effectLst>
                  <a:outerShdw blurRad="38100" dist="38100" dir="2700000" algn="tl">
                    <a:srgbClr val="000000">
                      <a:alpha val="43137"/>
                    </a:srgbClr>
                  </a:outerShdw>
                </a:effectLst>
                <a:uLnTx/>
                <a:uFillTx/>
                <a:latin typeface="Times New Roman" pitchFamily="18" charset="0"/>
                <a:ea typeface="+mn-ea"/>
                <a:cs typeface="Times New Roman" pitchFamily="18" charset="0"/>
              </a:rPr>
              <a:t>application</a:t>
            </a:r>
            <a:br>
              <a:rPr kumimoji="0" lang="en-US" sz="4400" b="1" i="0" u="none" strike="noStrike" kern="1200" cap="none" spc="50" normalizeH="0" baseline="0" noProof="0" dirty="0">
                <a:ln w="11430"/>
                <a:solidFill>
                  <a:prstClr val="white"/>
                </a:solidFill>
                <a:effectLst>
                  <a:outerShdw blurRad="38100" dist="38100" dir="2700000" algn="tl">
                    <a:srgbClr val="000000">
                      <a:alpha val="43137"/>
                    </a:srgbClr>
                  </a:outerShdw>
                </a:effectLst>
                <a:uLnTx/>
                <a:uFillTx/>
                <a:latin typeface="Constantia"/>
                <a:ea typeface="+mn-ea"/>
                <a:cs typeface="+mn-cs"/>
              </a:rPr>
            </a:br>
            <a:endParaRPr lang="en-US" sz="8800" b="1" dirty="0">
              <a:solidFill>
                <a:srgbClr val="FFFFFF"/>
              </a:solidFill>
            </a:endParaRPr>
          </a:p>
        </p:txBody>
      </p:sp>
    </p:spTree>
    <p:extLst>
      <p:ext uri="{BB962C8B-B14F-4D97-AF65-F5344CB8AC3E}">
        <p14:creationId xmlns:p14="http://schemas.microsoft.com/office/powerpoint/2010/main" val="2338321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No photo description available."/>
          <p:cNvPicPr>
            <a:picLocks noChangeAspect="1" noChangeArrowheads="1"/>
          </p:cNvPicPr>
          <p:nvPr/>
        </p:nvPicPr>
        <p:blipFill>
          <a:blip r:embed="rId2"/>
          <a:srcRect/>
          <a:stretch>
            <a:fillRect/>
          </a:stretch>
        </p:blipFill>
        <p:spPr bwMode="auto">
          <a:xfrm>
            <a:off x="4795817" y="3483546"/>
            <a:ext cx="2778691" cy="2234867"/>
          </a:xfrm>
          <a:prstGeom prst="rect">
            <a:avLst/>
          </a:prstGeom>
          <a:noFill/>
        </p:spPr>
      </p:pic>
      <p:sp>
        <p:nvSpPr>
          <p:cNvPr id="3" name="Content Placeholder 2">
            <a:extLst>
              <a:ext uri="{FF2B5EF4-FFF2-40B4-BE49-F238E27FC236}">
                <a16:creationId xmlns:a16="http://schemas.microsoft.com/office/drawing/2014/main" id="{DBE292CA-6284-4C1D-9FB2-E1D962FCDE90}"/>
              </a:ext>
            </a:extLst>
          </p:cNvPr>
          <p:cNvSpPr>
            <a:spLocks noGrp="1"/>
          </p:cNvSpPr>
          <p:nvPr>
            <p:ph idx="1"/>
          </p:nvPr>
        </p:nvSpPr>
        <p:spPr>
          <a:xfrm>
            <a:off x="278799" y="457200"/>
            <a:ext cx="11636540" cy="6400800"/>
          </a:xfrm>
        </p:spPr>
        <p:txBody>
          <a:bodyPr anchor="t">
            <a:normAutofit fontScale="92500" lnSpcReduction="10000"/>
          </a:bodyPr>
          <a:lstStyle/>
          <a:p>
            <a:pPr marL="36900" indent="0" algn="ctr">
              <a:spcAft>
                <a:spcPts val="1000"/>
              </a:spcAft>
              <a:buSzPct val="90000"/>
              <a:buNone/>
            </a:pPr>
            <a:r>
              <a:rPr lang="en-US" b="1" dirty="0">
                <a:latin typeface="New times roman"/>
              </a:rPr>
              <a:t>A Project Presentation by</a:t>
            </a:r>
          </a:p>
          <a:p>
            <a:pPr marL="36900" indent="0" algn="ctr">
              <a:spcAft>
                <a:spcPts val="1000"/>
              </a:spcAft>
              <a:buSzPct val="90000"/>
              <a:buNone/>
            </a:pPr>
            <a:r>
              <a:rPr lang="en-US" sz="1600" b="1" dirty="0" err="1">
                <a:latin typeface="Calibri" pitchFamily="34" charset="0"/>
                <a:cs typeface="Calibri" pitchFamily="34" charset="0"/>
              </a:rPr>
              <a:t>Sumeera</a:t>
            </a:r>
            <a:r>
              <a:rPr lang="en-US" sz="1600" b="1" dirty="0">
                <a:latin typeface="Calibri" pitchFamily="34" charset="0"/>
                <a:cs typeface="Calibri" pitchFamily="34" charset="0"/>
              </a:rPr>
              <a:t>  Jan (17206145020)</a:t>
            </a:r>
          </a:p>
          <a:p>
            <a:pPr marL="36900" indent="0" algn="ctr">
              <a:spcAft>
                <a:spcPts val="1000"/>
              </a:spcAft>
              <a:buSzPct val="90000"/>
              <a:buNone/>
            </a:pPr>
            <a:r>
              <a:rPr lang="en-US" sz="1600" b="1" dirty="0" err="1">
                <a:latin typeface="Calibri" pitchFamily="34" charset="0"/>
                <a:cs typeface="Calibri" pitchFamily="34" charset="0"/>
              </a:rPr>
              <a:t>Ibtisam</a:t>
            </a:r>
            <a:r>
              <a:rPr lang="en-US" sz="1600" b="1" dirty="0">
                <a:latin typeface="Calibri" pitchFamily="34" charset="0"/>
                <a:cs typeface="Calibri" pitchFamily="34" charset="0"/>
              </a:rPr>
              <a:t>  </a:t>
            </a:r>
            <a:r>
              <a:rPr lang="en-US" sz="1600" b="1" dirty="0" err="1">
                <a:latin typeface="Calibri" pitchFamily="34" charset="0"/>
                <a:cs typeface="Calibri" pitchFamily="34" charset="0"/>
              </a:rPr>
              <a:t>jan</a:t>
            </a:r>
            <a:r>
              <a:rPr lang="en-US" sz="1600" b="1" dirty="0">
                <a:latin typeface="Calibri" pitchFamily="34" charset="0"/>
                <a:cs typeface="Calibri" pitchFamily="34" charset="0"/>
              </a:rPr>
              <a:t> (17206145035)</a:t>
            </a:r>
          </a:p>
          <a:p>
            <a:pPr marL="36900" indent="0" algn="ctr">
              <a:spcAft>
                <a:spcPts val="1000"/>
              </a:spcAft>
              <a:buSzPct val="90000"/>
              <a:buNone/>
            </a:pPr>
            <a:r>
              <a:rPr lang="en-US" sz="1600" b="1" dirty="0" err="1">
                <a:latin typeface="Calibri" pitchFamily="34" charset="0"/>
                <a:cs typeface="Calibri" pitchFamily="34" charset="0"/>
              </a:rPr>
              <a:t>Sameer</a:t>
            </a:r>
            <a:r>
              <a:rPr lang="en-US" sz="1600" b="1" dirty="0">
                <a:latin typeface="Calibri" pitchFamily="34" charset="0"/>
                <a:cs typeface="Calibri" pitchFamily="34" charset="0"/>
              </a:rPr>
              <a:t>  Showkat (17206145042)</a:t>
            </a:r>
          </a:p>
          <a:p>
            <a:pPr marL="36900" indent="0" algn="ctr">
              <a:spcAft>
                <a:spcPts val="1000"/>
              </a:spcAft>
              <a:buSzPct val="90000"/>
              <a:buNone/>
            </a:pPr>
            <a:r>
              <a:rPr lang="en-US" sz="1600" b="1" dirty="0" err="1">
                <a:latin typeface="Calibri" pitchFamily="34" charset="0"/>
                <a:cs typeface="Calibri" pitchFamily="34" charset="0"/>
              </a:rPr>
              <a:t>Adnan</a:t>
            </a:r>
            <a:r>
              <a:rPr lang="en-US" sz="1600" b="1" dirty="0">
                <a:latin typeface="Calibri" pitchFamily="34" charset="0"/>
                <a:cs typeface="Calibri" pitchFamily="34" charset="0"/>
              </a:rPr>
              <a:t> </a:t>
            </a:r>
            <a:r>
              <a:rPr lang="en-US" sz="1600" b="1" dirty="0" err="1">
                <a:latin typeface="Calibri" pitchFamily="34" charset="0"/>
                <a:cs typeface="Calibri" pitchFamily="34" charset="0"/>
              </a:rPr>
              <a:t>Bashir</a:t>
            </a:r>
            <a:r>
              <a:rPr lang="en-US" sz="1600" b="1" dirty="0">
                <a:latin typeface="Calibri" pitchFamily="34" charset="0"/>
                <a:cs typeface="Calibri" pitchFamily="34" charset="0"/>
              </a:rPr>
              <a:t> (17206145053)</a:t>
            </a:r>
          </a:p>
          <a:p>
            <a:pPr marL="36900" indent="0" algn="ctr">
              <a:spcAft>
                <a:spcPts val="1000"/>
              </a:spcAft>
              <a:buSzPct val="90000"/>
              <a:buNone/>
            </a:pPr>
            <a:r>
              <a:rPr lang="en-US" sz="1600" b="1" dirty="0" err="1">
                <a:latin typeface="Calibri" pitchFamily="34" charset="0"/>
                <a:cs typeface="Calibri" pitchFamily="34" charset="0"/>
              </a:rPr>
              <a:t>Suraya</a:t>
            </a:r>
            <a:r>
              <a:rPr lang="en-US" sz="1600" b="1" dirty="0">
                <a:latin typeface="Calibri" pitchFamily="34" charset="0"/>
                <a:cs typeface="Calibri" pitchFamily="34" charset="0"/>
              </a:rPr>
              <a:t> </a:t>
            </a:r>
            <a:r>
              <a:rPr lang="en-US" sz="1600" b="1" dirty="0" err="1">
                <a:latin typeface="Calibri" pitchFamily="34" charset="0"/>
                <a:cs typeface="Calibri" pitchFamily="34" charset="0"/>
              </a:rPr>
              <a:t>jan</a:t>
            </a:r>
            <a:r>
              <a:rPr lang="en-US" sz="1600" b="1" dirty="0">
                <a:latin typeface="Calibri" pitchFamily="34" charset="0"/>
                <a:cs typeface="Calibri" pitchFamily="34" charset="0"/>
              </a:rPr>
              <a:t> (17206145055)</a:t>
            </a:r>
          </a:p>
          <a:p>
            <a:pPr marL="36900" indent="0" algn="ctr">
              <a:spcAft>
                <a:spcPts val="1000"/>
              </a:spcAft>
              <a:buSzPct val="90000"/>
              <a:buNone/>
            </a:pPr>
            <a:r>
              <a:rPr lang="en-US" sz="2000" i="1" dirty="0">
                <a:latin typeface="Calibri" pitchFamily="34" charset="0"/>
                <a:cs typeface="Calibri" pitchFamily="34" charset="0"/>
              </a:rPr>
              <a:t>Under  the  guidance of  </a:t>
            </a:r>
            <a:r>
              <a:rPr lang="en-US" sz="2400" b="1" dirty="0">
                <a:latin typeface="+mj-lt"/>
              </a:rPr>
              <a:t>Dr. </a:t>
            </a:r>
            <a:r>
              <a:rPr lang="en-US" sz="2400" b="1" dirty="0" err="1">
                <a:latin typeface="+mj-lt"/>
              </a:rPr>
              <a:t>Farooq</a:t>
            </a:r>
            <a:r>
              <a:rPr lang="en-US" sz="2400" b="1" dirty="0">
                <a:latin typeface="+mj-lt"/>
              </a:rPr>
              <a:t> Ahmad </a:t>
            </a:r>
            <a:r>
              <a:rPr lang="en-US" sz="2400" b="1" dirty="0" err="1">
                <a:latin typeface="+mj-lt"/>
              </a:rPr>
              <a:t>Najar</a:t>
            </a:r>
            <a:r>
              <a:rPr lang="en-US" sz="2400" b="1" dirty="0">
                <a:latin typeface="+mj-lt"/>
              </a:rPr>
              <a:t> </a:t>
            </a:r>
            <a:r>
              <a:rPr lang="en-US" sz="1800" b="1" dirty="0"/>
              <a:t>&amp; </a:t>
            </a:r>
            <a:r>
              <a:rPr lang="en-US" sz="2400" b="1" dirty="0">
                <a:latin typeface="+mj-lt"/>
              </a:rPr>
              <a:t>Dr. </a:t>
            </a:r>
            <a:r>
              <a:rPr lang="en-US" sz="2400" b="1" dirty="0" err="1">
                <a:latin typeface="+mj-lt"/>
              </a:rPr>
              <a:t>Summera</a:t>
            </a:r>
            <a:r>
              <a:rPr lang="en-US" sz="2400" b="1" dirty="0">
                <a:latin typeface="+mj-lt"/>
              </a:rPr>
              <a:t> </a:t>
            </a:r>
            <a:r>
              <a:rPr lang="en-US" sz="2400" b="1" dirty="0" err="1">
                <a:latin typeface="+mj-lt"/>
              </a:rPr>
              <a:t>Banday</a:t>
            </a:r>
            <a:endParaRPr lang="en-US" sz="2000" b="1" dirty="0">
              <a:latin typeface="+mj-lt"/>
            </a:endParaRPr>
          </a:p>
          <a:p>
            <a:pPr marL="36900" indent="0" algn="ctr">
              <a:spcAft>
                <a:spcPts val="1000"/>
              </a:spcAft>
              <a:buSzPct val="90000"/>
              <a:buNone/>
            </a:pPr>
            <a:endParaRPr lang="en-US" sz="1600" dirty="0"/>
          </a:p>
          <a:p>
            <a:pPr marL="36900" indent="0" algn="ctr">
              <a:spcAft>
                <a:spcPts val="1000"/>
              </a:spcAft>
              <a:buSzPct val="90000"/>
              <a:buNone/>
            </a:pPr>
            <a:endParaRPr lang="en-US" sz="1600" dirty="0"/>
          </a:p>
          <a:p>
            <a:pPr marL="36900" indent="0" algn="ctr">
              <a:spcAft>
                <a:spcPts val="1000"/>
              </a:spcAft>
              <a:buSzPct val="90000"/>
              <a:buNone/>
            </a:pPr>
            <a:endParaRPr lang="en-US" sz="1600" dirty="0"/>
          </a:p>
          <a:p>
            <a:pPr marL="36900" indent="0" algn="ctr">
              <a:spcAft>
                <a:spcPts val="1000"/>
              </a:spcAft>
              <a:buSzPct val="90000"/>
              <a:buNone/>
            </a:pPr>
            <a:endParaRPr lang="en-US" sz="1500" dirty="0"/>
          </a:p>
          <a:p>
            <a:pPr marL="36900" indent="0" algn="ctr">
              <a:buNone/>
            </a:pPr>
            <a:endParaRPr lang="en-US" sz="1500" dirty="0"/>
          </a:p>
          <a:p>
            <a:pPr marL="36900" indent="0" algn="ctr">
              <a:buNone/>
            </a:pPr>
            <a:r>
              <a:rPr lang="en-US" sz="1600" b="1" dirty="0">
                <a:latin typeface="Calibri" pitchFamily="34" charset="0"/>
                <a:cs typeface="Calibri" pitchFamily="34" charset="0"/>
              </a:rPr>
              <a:t>Department Of Mechanical Engineering</a:t>
            </a:r>
          </a:p>
          <a:p>
            <a:pPr marL="36900" indent="0" algn="ctr">
              <a:buNone/>
            </a:pPr>
            <a:r>
              <a:rPr lang="en-US" sz="1600" b="1" dirty="0">
                <a:latin typeface="Calibri" pitchFamily="34" charset="0"/>
                <a:cs typeface="Calibri" pitchFamily="34" charset="0"/>
              </a:rPr>
              <a:t>Institute of Technology, University Of Kashmir</a:t>
            </a:r>
          </a:p>
          <a:p>
            <a:pPr marL="36900" indent="0" algn="ctr">
              <a:buNone/>
            </a:pPr>
            <a:r>
              <a:rPr lang="en-US" sz="1600" b="1" dirty="0">
                <a:latin typeface="Calibri" pitchFamily="34" charset="0"/>
                <a:cs typeface="Calibri" pitchFamily="34" charset="0"/>
              </a:rPr>
              <a:t>Zakura Campus - 190006</a:t>
            </a:r>
          </a:p>
          <a:p>
            <a:pPr marL="36900" indent="0" algn="ctr">
              <a:spcAft>
                <a:spcPts val="1000"/>
              </a:spcAft>
              <a:buSzPct val="90000"/>
              <a:buNone/>
            </a:pPr>
            <a:endParaRPr lang="en-US" sz="1600" dirty="0"/>
          </a:p>
          <a:p>
            <a:pPr marL="36900" indent="0" algn="ctr">
              <a:spcAft>
                <a:spcPts val="1000"/>
              </a:spcAft>
              <a:buSzPct val="90000"/>
              <a:buNone/>
            </a:pPr>
            <a:endParaRPr lang="en-US" sz="1200" dirty="0"/>
          </a:p>
          <a:p>
            <a:pPr marL="36900" indent="0" algn="ctr">
              <a:spcAft>
                <a:spcPts val="1000"/>
              </a:spcAft>
              <a:buSzPct val="90000"/>
              <a:buNone/>
            </a:pPr>
            <a:endParaRPr lang="en-US" sz="1600" dirty="0"/>
          </a:p>
        </p:txBody>
      </p:sp>
    </p:spTree>
    <p:extLst>
      <p:ext uri="{BB962C8B-B14F-4D97-AF65-F5344CB8AC3E}">
        <p14:creationId xmlns:p14="http://schemas.microsoft.com/office/powerpoint/2010/main" val="2875402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Rectangle 2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C0D61C5A-BDB2-48ED-AD78-326AD9D6C922}"/>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Introduction</a:t>
            </a:r>
          </a:p>
        </p:txBody>
      </p:sp>
      <p:sp>
        <p:nvSpPr>
          <p:cNvPr id="3" name="Content Placeholder 2">
            <a:extLst>
              <a:ext uri="{FF2B5EF4-FFF2-40B4-BE49-F238E27FC236}">
                <a16:creationId xmlns:a16="http://schemas.microsoft.com/office/drawing/2014/main" id="{46B80B5F-BB22-4848-91A3-42B1B37A78F9}"/>
              </a:ext>
            </a:extLst>
          </p:cNvPr>
          <p:cNvSpPr>
            <a:spLocks noGrp="1"/>
          </p:cNvSpPr>
          <p:nvPr>
            <p:ph idx="1"/>
          </p:nvPr>
        </p:nvSpPr>
        <p:spPr>
          <a:xfrm>
            <a:off x="1367624" y="2177171"/>
            <a:ext cx="9708995" cy="2240718"/>
          </a:xfrm>
        </p:spPr>
        <p:txBody>
          <a:bodyPr anchor="ctr">
            <a:normAutofit/>
          </a:bodyPr>
          <a:lstStyle/>
          <a:p>
            <a:pPr marL="436950" indent="-285750">
              <a:spcAft>
                <a:spcPts val="1000"/>
              </a:spcAft>
              <a:buSzPct val="90000"/>
            </a:pPr>
            <a:r>
              <a:rPr lang="en-US" sz="1800" dirty="0">
                <a:latin typeface="Calibri" pitchFamily="34" charset="0"/>
                <a:cs typeface="Calibri" pitchFamily="34" charset="0"/>
              </a:rPr>
              <a:t> Laser texturing is a process that alters a material's surface properties by modifying its texture and roughness.</a:t>
            </a:r>
          </a:p>
          <a:p>
            <a:pPr marL="436950" indent="-285750">
              <a:spcAft>
                <a:spcPts val="1000"/>
              </a:spcAft>
              <a:buSzPct val="90000"/>
            </a:pPr>
            <a:r>
              <a:rPr lang="en-US" sz="1800" dirty="0">
                <a:latin typeface="Calibri" pitchFamily="34" charset="0"/>
                <a:cs typeface="Calibri" pitchFamily="34" charset="0"/>
              </a:rPr>
              <a:t>Laser surface texturing can be used to improve properties like adherence, wettability, electrical and thermal conductivity, and friction.</a:t>
            </a:r>
            <a:endParaRPr lang="en-US" sz="1800" dirty="0"/>
          </a:p>
        </p:txBody>
      </p:sp>
    </p:spTree>
    <p:extLst>
      <p:ext uri="{BB962C8B-B14F-4D97-AF65-F5344CB8AC3E}">
        <p14:creationId xmlns:p14="http://schemas.microsoft.com/office/powerpoint/2010/main" val="151932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Why Laser Surface Texturing?</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6"/>
            <a:ext cx="9708995" cy="3567173"/>
          </a:xfrm>
        </p:spPr>
        <p:txBody>
          <a:bodyPr anchor="ctr">
            <a:normAutofit/>
          </a:bodyPr>
          <a:lstStyle/>
          <a:p>
            <a:pPr marL="379800" marR="0" lvl="0" indent="-342900" algn="l" defTabSz="914400" rtl="0" eaLnBrk="1" fontAlgn="auto" latinLnBrk="0" hangingPunct="1">
              <a:lnSpc>
                <a:spcPct val="100000"/>
              </a:lnSpc>
              <a:spcBef>
                <a:spcPct val="20000"/>
              </a:spcBef>
              <a:spcAft>
                <a:spcPts val="1000"/>
              </a:spcAft>
              <a:buClr>
                <a:srgbClr val="0BD0D9"/>
              </a:buClr>
              <a:buSzPct val="90000"/>
              <a:buFont typeface="Wingdings" pitchFamily="2" charset="2"/>
              <a:buChar char="q"/>
              <a:tabLst/>
              <a:defRPr/>
            </a:pPr>
            <a:r>
              <a:rPr kumimoji="0" lang="en-US" sz="1600" b="0" i="0" u="none" strike="noStrike" kern="1200" cap="none" spc="0" normalizeH="0" baseline="0" noProof="0" dirty="0">
                <a:ln>
                  <a:noFill/>
                </a:ln>
                <a:solidFill>
                  <a:prstClr val="black"/>
                </a:solidFill>
                <a:effectLst/>
                <a:uLnTx/>
                <a:uFillTx/>
                <a:latin typeface="Constantia"/>
                <a:ea typeface="+mn-ea"/>
                <a:cs typeface="+mn-cs"/>
              </a:rPr>
              <a:t>Non-contact  processing, zero tool wear, fast processing speed and ease for automation.</a:t>
            </a:r>
          </a:p>
          <a:p>
            <a:pPr marL="379800" marR="0" lvl="0" indent="-342900" algn="l" defTabSz="914400" rtl="0" eaLnBrk="1" fontAlgn="auto" latinLnBrk="0" hangingPunct="1">
              <a:lnSpc>
                <a:spcPct val="100000"/>
              </a:lnSpc>
              <a:spcBef>
                <a:spcPct val="20000"/>
              </a:spcBef>
              <a:spcAft>
                <a:spcPts val="1000"/>
              </a:spcAft>
              <a:buClr>
                <a:srgbClr val="0BD0D9"/>
              </a:buClr>
              <a:buSzPct val="90000"/>
              <a:buFont typeface="Wingdings" pitchFamily="2" charset="2"/>
              <a:buChar char="q"/>
              <a:tabLst/>
              <a:defRPr/>
            </a:pPr>
            <a:r>
              <a:rPr kumimoji="0" lang="en-US" sz="1600" b="0" i="0" u="none" strike="noStrike" kern="1200" cap="none" spc="0" normalizeH="0" baseline="0" noProof="0" dirty="0">
                <a:ln>
                  <a:noFill/>
                </a:ln>
                <a:solidFill>
                  <a:prstClr val="black"/>
                </a:solidFill>
                <a:effectLst/>
                <a:uLnTx/>
                <a:uFillTx/>
                <a:latin typeface="Constantia"/>
                <a:ea typeface="+mn-ea"/>
                <a:cs typeface="+mn-cs"/>
              </a:rPr>
              <a:t>Cost - efficient as reduces in  labor  and production time.</a:t>
            </a:r>
          </a:p>
          <a:p>
            <a:pPr marL="379800" marR="0" lvl="0" indent="-342900" algn="l" defTabSz="914400" rtl="0" eaLnBrk="1" fontAlgn="auto" latinLnBrk="0" hangingPunct="1">
              <a:lnSpc>
                <a:spcPct val="100000"/>
              </a:lnSpc>
              <a:spcBef>
                <a:spcPct val="20000"/>
              </a:spcBef>
              <a:spcAft>
                <a:spcPts val="1000"/>
              </a:spcAft>
              <a:buClr>
                <a:srgbClr val="0BD0D9"/>
              </a:buClr>
              <a:buSzPct val="90000"/>
              <a:buFont typeface="Wingdings" pitchFamily="2" charset="2"/>
              <a:buChar char="q"/>
              <a:tabLst/>
              <a:defRPr/>
            </a:pPr>
            <a:r>
              <a:rPr kumimoji="0" lang="en-US" sz="1600" b="0" i="0" u="none" strike="noStrike" kern="1200" cap="none" spc="0" normalizeH="0" baseline="0" noProof="0" dirty="0">
                <a:ln>
                  <a:noFill/>
                </a:ln>
                <a:solidFill>
                  <a:prstClr val="black"/>
                </a:solidFill>
                <a:effectLst/>
                <a:uLnTx/>
                <a:uFillTx/>
                <a:latin typeface="Constantia"/>
                <a:ea typeface="+mn-ea"/>
                <a:cs typeface="+mn-cs"/>
              </a:rPr>
              <a:t>Less environmental impact of the process in comparison to other methods.</a:t>
            </a:r>
          </a:p>
          <a:p>
            <a:pPr marL="379800" marR="0" lvl="0" indent="-342900" algn="l" defTabSz="914400" rtl="0" eaLnBrk="1" fontAlgn="auto" latinLnBrk="0" hangingPunct="1">
              <a:lnSpc>
                <a:spcPct val="100000"/>
              </a:lnSpc>
              <a:spcBef>
                <a:spcPct val="20000"/>
              </a:spcBef>
              <a:spcAft>
                <a:spcPts val="1000"/>
              </a:spcAft>
              <a:buClr>
                <a:srgbClr val="0BD0D9"/>
              </a:buClr>
              <a:buSzPct val="90000"/>
              <a:buFont typeface="Wingdings" pitchFamily="2" charset="2"/>
              <a:buChar char="q"/>
              <a:tabLst/>
              <a:defRPr/>
            </a:pPr>
            <a:r>
              <a:rPr kumimoji="0" lang="en-US" sz="1600" b="0" i="0" u="none" strike="noStrike" kern="1200" cap="none" spc="0" normalizeH="0" baseline="0" noProof="0" dirty="0">
                <a:ln>
                  <a:noFill/>
                </a:ln>
                <a:solidFill>
                  <a:prstClr val="black"/>
                </a:solidFill>
                <a:effectLst/>
                <a:uLnTx/>
                <a:uFillTx/>
                <a:latin typeface="Constantia"/>
                <a:ea typeface="+mn-ea"/>
                <a:cs typeface="+mn-cs"/>
              </a:rPr>
              <a:t> A  significant reduction in waste , as well as the lack of need for any chemical reagents.</a:t>
            </a:r>
            <a:endParaRPr lang="en-US" sz="2400" dirty="0"/>
          </a:p>
          <a:p>
            <a:pPr marL="0" indent="0">
              <a:buNone/>
            </a:pPr>
            <a:endParaRPr lang="en-US" sz="2400" dirty="0"/>
          </a:p>
        </p:txBody>
      </p:sp>
    </p:spTree>
    <p:extLst>
      <p:ext uri="{BB962C8B-B14F-4D97-AF65-F5344CB8AC3E}">
        <p14:creationId xmlns:p14="http://schemas.microsoft.com/office/powerpoint/2010/main" val="2549612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Literature Survey.</a:t>
            </a:r>
          </a:p>
        </p:txBody>
      </p:sp>
      <p:pic>
        <p:nvPicPr>
          <p:cNvPr id="5" name="Content Placeholder 4">
            <a:extLst>
              <a:ext uri="{FF2B5EF4-FFF2-40B4-BE49-F238E27FC236}">
                <a16:creationId xmlns:a16="http://schemas.microsoft.com/office/drawing/2014/main" id="{CA6600EC-7434-4156-A9F5-3F1C69C72BE1}"/>
              </a:ext>
            </a:extLst>
          </p:cNvPr>
          <p:cNvPicPr>
            <a:picLocks noGrp="1" noChangeAspect="1"/>
          </p:cNvPicPr>
          <p:nvPr>
            <p:ph idx="1"/>
          </p:nvPr>
        </p:nvPicPr>
        <p:blipFill>
          <a:blip r:embed="rId2"/>
          <a:stretch>
            <a:fillRect/>
          </a:stretch>
        </p:blipFill>
        <p:spPr>
          <a:xfrm>
            <a:off x="1767155" y="2490788"/>
            <a:ext cx="8856323" cy="3877810"/>
          </a:xfrm>
        </p:spPr>
      </p:pic>
    </p:spTree>
    <p:extLst>
      <p:ext uri="{BB962C8B-B14F-4D97-AF65-F5344CB8AC3E}">
        <p14:creationId xmlns:p14="http://schemas.microsoft.com/office/powerpoint/2010/main" val="1830621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Research Gap</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6"/>
            <a:ext cx="9708995" cy="3567173"/>
          </a:xfrm>
        </p:spPr>
        <p:txBody>
          <a:bodyPr anchor="ctr">
            <a:normAutofit/>
          </a:bodyPr>
          <a:lstStyle/>
          <a:p>
            <a:pPr marL="379800" marR="0" lvl="0" indent="-274320" algn="l" defTabSz="914400" rtl="0" eaLnBrk="1" fontAlgn="auto" latinLnBrk="0" hangingPunct="1">
              <a:lnSpc>
                <a:spcPct val="100000"/>
              </a:lnSpc>
              <a:spcBef>
                <a:spcPct val="20000"/>
              </a:spcBef>
              <a:spcAft>
                <a:spcPts val="1000"/>
              </a:spcAft>
              <a:buClr>
                <a:srgbClr val="0BD0D9"/>
              </a:buClr>
              <a:buSzPct val="90000"/>
              <a:buFont typeface="Wingdings 2"/>
              <a:buNone/>
              <a:tabLst/>
              <a:defRPr/>
            </a:pPr>
            <a:r>
              <a:rPr kumimoji="0" lang="en-US" sz="1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 </a:t>
            </a:r>
            <a:endParaRPr kumimoji="0" lang="en-US" sz="20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a:p>
            <a:pPr marL="379800" marR="0" lvl="0" indent="-274320" algn="l" defTabSz="914400" rtl="0" eaLnBrk="1" fontAlgn="auto" latinLnBrk="0" hangingPunct="1">
              <a:lnSpc>
                <a:spcPct val="100000"/>
              </a:lnSpc>
              <a:spcBef>
                <a:spcPct val="20000"/>
              </a:spcBef>
              <a:spcAft>
                <a:spcPts val="1000"/>
              </a:spcAft>
              <a:buClr>
                <a:srgbClr val="0BD0D9"/>
              </a:buClr>
              <a:buSzPct val="90000"/>
              <a:buFont typeface="Wingdings"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 It  is evident from the literature review  that  a few literature  is available to study  the  tribological behavior   laser  textured  Al alloy for bearing application. </a:t>
            </a:r>
          </a:p>
          <a:p>
            <a:pPr marL="379800" marR="0" lvl="0" indent="-274320" algn="l" defTabSz="914400" rtl="0" eaLnBrk="1" fontAlgn="auto" latinLnBrk="0" hangingPunct="1">
              <a:lnSpc>
                <a:spcPct val="100000"/>
              </a:lnSpc>
              <a:spcBef>
                <a:spcPct val="20000"/>
              </a:spcBef>
              <a:spcAft>
                <a:spcPts val="1000"/>
              </a:spcAft>
              <a:buClr>
                <a:srgbClr val="0BD0D9"/>
              </a:buClr>
              <a:buSzPct val="90000"/>
              <a:buFont typeface="Wingdings"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The growing  emphasis  on development of high performance , low cost   readily  available  of material for engineering  application.</a:t>
            </a:r>
          </a:p>
          <a:p>
            <a:pPr marL="379800" marR="0" lvl="0" indent="-274320" algn="l" defTabSz="914400" rtl="0" eaLnBrk="1" fontAlgn="auto" latinLnBrk="0" hangingPunct="1">
              <a:lnSpc>
                <a:spcPct val="100000"/>
              </a:lnSpc>
              <a:spcBef>
                <a:spcPct val="20000"/>
              </a:spcBef>
              <a:spcAft>
                <a:spcPts val="1000"/>
              </a:spcAft>
              <a:buClr>
                <a:srgbClr val="0BD0D9"/>
              </a:buClr>
              <a:buSzPct val="90000"/>
              <a:buFont typeface="Wingdings" pitchFamily="2" charset="2"/>
              <a:buChar char="q"/>
              <a:tabLst/>
              <a:defRPr/>
            </a:pPr>
            <a:r>
              <a:rPr kumimoji="0" lang="en-US" sz="20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Therefore, it is of interest  to study the effect of texturing  on friction  and wear behavior  of Al alloy.  </a:t>
            </a:r>
          </a:p>
          <a:p>
            <a:pPr marL="36900" marR="0" lvl="0" indent="0" algn="l" defTabSz="914400" rtl="0" eaLnBrk="1" fontAlgn="auto" latinLnBrk="0" hangingPunct="1">
              <a:lnSpc>
                <a:spcPct val="100000"/>
              </a:lnSpc>
              <a:spcBef>
                <a:spcPct val="20000"/>
              </a:spcBef>
              <a:spcAft>
                <a:spcPts val="1000"/>
              </a:spcAft>
              <a:buClr>
                <a:srgbClr val="0BD0D9"/>
              </a:buClr>
              <a:buSzPct val="90000"/>
              <a:buFont typeface="Wingdings 2"/>
              <a:buNone/>
              <a:tabLst/>
              <a:defRPr/>
            </a:pPr>
            <a:r>
              <a:rPr kumimoji="0" lang="en-US" sz="1600" b="0" i="0" u="none" strike="noStrike" kern="1200" cap="none" spc="0" normalizeH="0" baseline="0" noProof="0" dirty="0">
                <a:ln>
                  <a:noFill/>
                </a:ln>
                <a:solidFill>
                  <a:prstClr val="black"/>
                </a:solidFill>
                <a:effectLst/>
                <a:uLnTx/>
                <a:uFillTx/>
                <a:latin typeface="Constantia"/>
                <a:ea typeface="+mn-ea"/>
                <a:cs typeface="+mn-cs"/>
              </a:rPr>
              <a:t>    </a:t>
            </a:r>
          </a:p>
          <a:p>
            <a:pPr marL="36900" marR="0" lvl="0" indent="0" algn="l" defTabSz="914400" rtl="0" eaLnBrk="1" fontAlgn="auto" latinLnBrk="0" hangingPunct="1">
              <a:lnSpc>
                <a:spcPct val="100000"/>
              </a:lnSpc>
              <a:spcBef>
                <a:spcPct val="20000"/>
              </a:spcBef>
              <a:spcAft>
                <a:spcPts val="1000"/>
              </a:spcAft>
              <a:buClr>
                <a:srgbClr val="0BD0D9"/>
              </a:buClr>
              <a:buSzPct val="90000"/>
              <a:buFont typeface="Wingdings 2"/>
              <a:buNone/>
              <a:tabLst/>
              <a:defRPr/>
            </a:pPr>
            <a:endParaRPr kumimoji="0" lang="en-US" sz="1600" b="0" i="0" u="none" strike="noStrike" kern="1200" cap="none" spc="0" normalizeH="0" baseline="0" noProof="0" dirty="0">
              <a:ln>
                <a:noFill/>
              </a:ln>
              <a:solidFill>
                <a:prstClr val="black"/>
              </a:solidFill>
              <a:effectLst/>
              <a:uLnTx/>
              <a:uFillTx/>
              <a:latin typeface="Constantia"/>
              <a:ea typeface="+mn-ea"/>
              <a:cs typeface="+mn-cs"/>
            </a:endParaRPr>
          </a:p>
          <a:p>
            <a:pPr marL="0" indent="0">
              <a:buNone/>
            </a:pPr>
            <a:endParaRPr lang="en-US" sz="2400" i="1" dirty="0"/>
          </a:p>
        </p:txBody>
      </p:sp>
    </p:spTree>
    <p:extLst>
      <p:ext uri="{BB962C8B-B14F-4D97-AF65-F5344CB8AC3E}">
        <p14:creationId xmlns:p14="http://schemas.microsoft.com/office/powerpoint/2010/main" val="593377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Objective</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6"/>
            <a:ext cx="9708995" cy="3567173"/>
          </a:xfrm>
        </p:spPr>
        <p:txBody>
          <a:bodyPr anchor="ctr">
            <a:normAutofit/>
          </a:bodyPr>
          <a:lstStyle/>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Material used Aluminum Silicon (Al-Si) alloy.</a:t>
            </a:r>
          </a:p>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Laser texturing of two shapes (circular &amp; square).</a:t>
            </a:r>
          </a:p>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Tribological test under Lubrication condition.</a:t>
            </a:r>
          </a:p>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r>
              <a:rPr kumimoji="0" lang="en-US" sz="2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rPr>
              <a:t>Validation.</a:t>
            </a:r>
          </a:p>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2"/>
              <a:buAutoNum type="arabicPeriod"/>
              <a:tabLst/>
              <a:defRPr/>
            </a:pPr>
            <a:endParaRPr kumimoji="0" lang="en-US" sz="2400" b="0" i="0" u="none" strike="noStrike" kern="1200" cap="none" spc="0" normalizeH="0" baseline="0" noProof="0" dirty="0">
              <a:ln>
                <a:noFill/>
              </a:ln>
              <a:solidFill>
                <a:prstClr val="black"/>
              </a:solidFill>
              <a:effectLst/>
              <a:uLnTx/>
              <a:uFillTx/>
              <a:latin typeface="Constantia"/>
              <a:ea typeface="+mn-ea"/>
              <a:cs typeface="+mn-cs"/>
            </a:endParaRPr>
          </a:p>
          <a:p>
            <a:pPr marL="0" indent="0">
              <a:buNone/>
            </a:pPr>
            <a:endParaRPr lang="en-US" sz="2400" dirty="0"/>
          </a:p>
        </p:txBody>
      </p:sp>
    </p:spTree>
    <p:extLst>
      <p:ext uri="{BB962C8B-B14F-4D97-AF65-F5344CB8AC3E}">
        <p14:creationId xmlns:p14="http://schemas.microsoft.com/office/powerpoint/2010/main" val="2736933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26EE4FD-480F-42A5-9FEB-DA630457C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
            <a:extLst>
              <a:ext uri="{FF2B5EF4-FFF2-40B4-BE49-F238E27FC236}">
                <a16:creationId xmlns:a16="http://schemas.microsoft.com/office/drawing/2014/main" id="{A187062F-BE14-42FC-B06A-607DB238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8" y="1766812"/>
            <a:ext cx="822493"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
            <a:extLst>
              <a:ext uri="{FF2B5EF4-FFF2-40B4-BE49-F238E27FC236}">
                <a16:creationId xmlns:a16="http://schemas.microsoft.com/office/drawing/2014/main" id="{731FE21B-2A45-4BF5-8B03-E1234198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9" y="1423780"/>
            <a:ext cx="687754"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2DC5A94D-79ED-48F5-9DC5-96CBB507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3" y="1239381"/>
            <a:ext cx="3472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Rectangle 8">
            <a:extLst>
              <a:ext uri="{FF2B5EF4-FFF2-40B4-BE49-F238E27FC236}">
                <a16:creationId xmlns:a16="http://schemas.microsoft.com/office/drawing/2014/main" id="{93A3D4BE-AF25-4F9A-9C29-1145CCE2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2" y="1230651"/>
            <a:ext cx="10208658"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715C716B-53D4-4A75-B7C6-8A92C261130A}"/>
              </a:ext>
            </a:extLst>
          </p:cNvPr>
          <p:cNvSpPr>
            <a:spLocks noGrp="1"/>
          </p:cNvSpPr>
          <p:nvPr>
            <p:ph type="ctrTitle"/>
          </p:nvPr>
        </p:nvSpPr>
        <p:spPr>
          <a:xfrm>
            <a:off x="1870997" y="1607809"/>
            <a:ext cx="9236026" cy="2876680"/>
          </a:xfrm>
        </p:spPr>
        <p:txBody>
          <a:bodyPr anchor="b">
            <a:normAutofit/>
          </a:bodyPr>
          <a:lstStyle/>
          <a:p>
            <a:pPr algn="l"/>
            <a:r>
              <a:rPr lang="en-US" sz="8000" b="1" dirty="0">
                <a:solidFill>
                  <a:srgbClr val="FFFFFF"/>
                </a:solidFill>
              </a:rPr>
              <a:t>Methodology</a:t>
            </a:r>
          </a:p>
        </p:txBody>
      </p:sp>
    </p:spTree>
    <p:extLst>
      <p:ext uri="{BB962C8B-B14F-4D97-AF65-F5344CB8AC3E}">
        <p14:creationId xmlns:p14="http://schemas.microsoft.com/office/powerpoint/2010/main" val="1061842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Procurement and Cutting</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6"/>
            <a:ext cx="9708995" cy="3567173"/>
          </a:xfrm>
        </p:spPr>
        <p:txBody>
          <a:bodyPr anchor="ctr">
            <a:normAutofit/>
          </a:bodyPr>
          <a:lstStyle/>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r>
              <a:rPr lang="en-US" sz="2400" dirty="0">
                <a:effectLst/>
                <a:latin typeface="Times New Roman" panose="02020603050405020304" pitchFamily="18" charset="0"/>
                <a:ea typeface="Times New Roman" panose="02020603050405020304" pitchFamily="18" charset="0"/>
              </a:rPr>
              <a:t>Al-Si  alloy and Steel ball were used for every test performed.</a:t>
            </a:r>
            <a:endParaRPr kumimoji="0" lang="en-US" sz="24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r>
              <a:rPr lang="en-US" sz="2400" dirty="0">
                <a:effectLst/>
                <a:latin typeface="Times New Roman" panose="02020603050405020304" pitchFamily="18" charset="0"/>
                <a:ea typeface="Times New Roman" panose="02020603050405020304" pitchFamily="18" charset="0"/>
              </a:rPr>
              <a:t>Al-Si  alloy and Steel ball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materials procured from Nano Shells</a:t>
            </a:r>
            <a:endParaRPr kumimoji="0" lang="en-US" sz="24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r>
              <a:rPr lang="en-US" sz="2400" dirty="0">
                <a:effectLst/>
                <a:latin typeface="Times New Roman" panose="02020603050405020304" pitchFamily="18" charset="0"/>
                <a:ea typeface="Times New Roman" panose="02020603050405020304" pitchFamily="18" charset="0"/>
              </a:rPr>
              <a:t>Al-Si alloy procured inside the </a:t>
            </a:r>
            <a:r>
              <a:rPr lang="en-US" sz="2400" spc="-28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shape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 rod of 30mm diameter.</a:t>
            </a:r>
            <a:endParaRPr kumimoji="0" lang="en-US" sz="24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a:p>
            <a:pPr marL="525780" indent="-457200">
              <a:lnSpc>
                <a:spcPct val="100000"/>
              </a:lnSpc>
              <a:spcBef>
                <a:spcPct val="20000"/>
              </a:spcBef>
              <a:buClr>
                <a:srgbClr val="0BD0D9"/>
              </a:buClr>
              <a:buSzPct val="95000"/>
              <a:buFont typeface="Wingdings" pitchFamily="2" charset="2"/>
              <a:buChar char="q"/>
              <a:defRPr/>
            </a:pPr>
            <a:r>
              <a:rPr lang="en-US" sz="2400" dirty="0">
                <a:latin typeface="Times New Roman" panose="02020603050405020304" pitchFamily="18" charset="0"/>
              </a:rPr>
              <a:t>Rod  is then  cut into discs of size 30mm x  8mm.</a:t>
            </a:r>
          </a:p>
          <a:p>
            <a:pPr marL="525780" marR="0" lvl="0" indent="-457200" algn="l" defTabSz="914400" rtl="0" eaLnBrk="1" fontAlgn="auto" latinLnBrk="0" hangingPunct="1">
              <a:lnSpc>
                <a:spcPct val="100000"/>
              </a:lnSpc>
              <a:spcBef>
                <a:spcPct val="20000"/>
              </a:spcBef>
              <a:spcAft>
                <a:spcPts val="0"/>
              </a:spcAft>
              <a:buClr>
                <a:srgbClr val="0BD0D9"/>
              </a:buClr>
              <a:buSzPct val="95000"/>
              <a:buFont typeface="Wingdings" pitchFamily="2" charset="2"/>
              <a:buChar char="q"/>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indent="0">
              <a:buNone/>
            </a:pPr>
            <a:endParaRPr lang="en-US" sz="2000" dirty="0"/>
          </a:p>
          <a:p>
            <a:pPr marL="0" indent="0">
              <a:buNone/>
            </a:pPr>
            <a:endParaRPr lang="en-US" sz="2400" dirty="0"/>
          </a:p>
        </p:txBody>
      </p:sp>
    </p:spTree>
    <p:extLst>
      <p:ext uri="{BB962C8B-B14F-4D97-AF65-F5344CB8AC3E}">
        <p14:creationId xmlns:p14="http://schemas.microsoft.com/office/powerpoint/2010/main" val="2502900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err="1">
                <a:solidFill>
                  <a:srgbClr val="FFFFFF"/>
                </a:solidFill>
              </a:rPr>
              <a:t>Moulding</a:t>
            </a:r>
            <a:endParaRPr lang="en-US" sz="4000" dirty="0">
              <a:solidFill>
                <a:srgbClr val="FFFFFF"/>
              </a:solidFill>
            </a:endParaRP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7"/>
            <a:ext cx="9708995" cy="938564"/>
          </a:xfrm>
        </p:spPr>
        <p:txBody>
          <a:bodyPr anchor="ctr">
            <a:normAutofit fontScale="92500" lnSpcReduction="10000"/>
          </a:bodyPr>
          <a:lstStyle/>
          <a:p>
            <a:pPr marL="0" indent="0">
              <a:buNone/>
            </a:pPr>
            <a:r>
              <a:rPr lang="en-US" sz="2400" dirty="0" err="1">
                <a:effectLst/>
                <a:latin typeface="Times New Roman" panose="02020603050405020304" pitchFamily="18" charset="0"/>
                <a:ea typeface="Times New Roman" panose="02020603050405020304" pitchFamily="18" charset="0"/>
              </a:rPr>
              <a:t>Moulding</a:t>
            </a:r>
            <a:r>
              <a:rPr lang="en-US" sz="2400" dirty="0">
                <a:effectLst/>
                <a:latin typeface="Times New Roman" panose="02020603050405020304" pitchFamily="18" charset="0"/>
                <a:ea typeface="Times New Roman" panose="02020603050405020304" pitchFamily="18" charset="0"/>
              </a:rPr>
              <a:t> is the process of manufacturing </a:t>
            </a:r>
            <a:r>
              <a:rPr lang="en-US" sz="2400" u="none" strike="noStrike" dirty="0">
                <a:solidFill>
                  <a:srgbClr val="0000FF"/>
                </a:solidFill>
                <a:effectLst/>
                <a:latin typeface="Times New Roman" panose="02020603050405020304" pitchFamily="18" charset="0"/>
                <a:ea typeface="Times New Roman" panose="02020603050405020304" pitchFamily="18" charset="0"/>
                <a:hlinkClick r:id="rId2"/>
              </a:rPr>
              <a:t> </a:t>
            </a:r>
            <a:r>
              <a:rPr lang="en-US" sz="2400" dirty="0">
                <a:effectLst/>
                <a:latin typeface="Times New Roman" panose="02020603050405020304" pitchFamily="18" charset="0"/>
                <a:ea typeface="Times New Roman" panose="02020603050405020304" pitchFamily="18" charset="0"/>
              </a:rPr>
              <a:t>by shaping liquid or pliable raw material using a</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rigid frame called a mold or matrix. </a:t>
            </a:r>
            <a:r>
              <a:rPr lang="en-US" sz="2400" dirty="0" err="1">
                <a:latin typeface="Times New Roman" panose="02020603050405020304" pitchFamily="18" charset="0"/>
                <a:ea typeface="Times New Roman" panose="02020603050405020304" pitchFamily="18" charset="0"/>
              </a:rPr>
              <a:t>Moduling</a:t>
            </a:r>
            <a:r>
              <a:rPr lang="en-US" sz="2400" dirty="0">
                <a:latin typeface="Times New Roman" panose="02020603050405020304" pitchFamily="18" charset="0"/>
                <a:ea typeface="Times New Roman" panose="02020603050405020304" pitchFamily="18" charset="0"/>
              </a:rPr>
              <a:t> done in our case is shown in table below.</a:t>
            </a:r>
          </a:p>
          <a:p>
            <a:pPr marL="0" indent="0">
              <a:buNone/>
            </a:pPr>
            <a:endParaRPr lang="en-US" sz="2400" dirty="0"/>
          </a:p>
        </p:txBody>
      </p:sp>
      <p:graphicFrame>
        <p:nvGraphicFramePr>
          <p:cNvPr id="4" name="Table 3">
            <a:extLst>
              <a:ext uri="{FF2B5EF4-FFF2-40B4-BE49-F238E27FC236}">
                <a16:creationId xmlns:a16="http://schemas.microsoft.com/office/drawing/2014/main" id="{1D5B1D58-0B63-43BB-9A98-9EC879931A27}"/>
              </a:ext>
            </a:extLst>
          </p:cNvPr>
          <p:cNvGraphicFramePr>
            <a:graphicFrameLocks noGrp="1"/>
          </p:cNvGraphicFramePr>
          <p:nvPr>
            <p:extLst>
              <p:ext uri="{D42A27DB-BD31-4B8C-83A1-F6EECF244321}">
                <p14:modId xmlns:p14="http://schemas.microsoft.com/office/powerpoint/2010/main" val="1319230878"/>
              </p:ext>
            </p:extLst>
          </p:nvPr>
        </p:nvGraphicFramePr>
        <p:xfrm>
          <a:off x="1675617" y="3382073"/>
          <a:ext cx="5629309" cy="2439279"/>
        </p:xfrm>
        <a:graphic>
          <a:graphicData uri="http://schemas.openxmlformats.org/drawingml/2006/table">
            <a:tbl>
              <a:tblPr firstRow="1" firstCol="1" lastRow="1" lastCol="1" bandRow="1" bandCol="1">
                <a:tableStyleId>{5C22544A-7EE6-4342-B048-85BDC9FD1C3A}</a:tableStyleId>
              </a:tblPr>
              <a:tblGrid>
                <a:gridCol w="577169">
                  <a:extLst>
                    <a:ext uri="{9D8B030D-6E8A-4147-A177-3AD203B41FA5}">
                      <a16:colId xmlns:a16="http://schemas.microsoft.com/office/drawing/2014/main" val="3638021563"/>
                    </a:ext>
                  </a:extLst>
                </a:gridCol>
                <a:gridCol w="1273996">
                  <a:extLst>
                    <a:ext uri="{9D8B030D-6E8A-4147-A177-3AD203B41FA5}">
                      <a16:colId xmlns:a16="http://schemas.microsoft.com/office/drawing/2014/main" val="687981524"/>
                    </a:ext>
                  </a:extLst>
                </a:gridCol>
                <a:gridCol w="1376737">
                  <a:extLst>
                    <a:ext uri="{9D8B030D-6E8A-4147-A177-3AD203B41FA5}">
                      <a16:colId xmlns:a16="http://schemas.microsoft.com/office/drawing/2014/main" val="257752511"/>
                    </a:ext>
                  </a:extLst>
                </a:gridCol>
                <a:gridCol w="1078786">
                  <a:extLst>
                    <a:ext uri="{9D8B030D-6E8A-4147-A177-3AD203B41FA5}">
                      <a16:colId xmlns:a16="http://schemas.microsoft.com/office/drawing/2014/main" val="1328044447"/>
                    </a:ext>
                  </a:extLst>
                </a:gridCol>
                <a:gridCol w="1322621">
                  <a:extLst>
                    <a:ext uri="{9D8B030D-6E8A-4147-A177-3AD203B41FA5}">
                      <a16:colId xmlns:a16="http://schemas.microsoft.com/office/drawing/2014/main" val="2433729139"/>
                    </a:ext>
                  </a:extLst>
                </a:gridCol>
              </a:tblGrid>
              <a:tr h="697123">
                <a:tc>
                  <a:txBody>
                    <a:bodyPr/>
                    <a:lstStyle/>
                    <a:p>
                      <a:pPr marL="67945" marR="0" algn="just">
                        <a:lnSpc>
                          <a:spcPts val="1340"/>
                        </a:lnSpc>
                        <a:spcBef>
                          <a:spcPts val="0"/>
                        </a:spcBef>
                        <a:spcAft>
                          <a:spcPts val="0"/>
                        </a:spcAft>
                      </a:pPr>
                      <a:r>
                        <a:rPr lang="en-US" sz="1100">
                          <a:effectLst/>
                        </a:rPr>
                        <a:t>S.</a:t>
                      </a:r>
                      <a:r>
                        <a:rPr lang="en-US" sz="1100" spc="-5">
                          <a:effectLst/>
                        </a:rPr>
                        <a:t> </a:t>
                      </a:r>
                      <a:r>
                        <a:rPr lang="en-US" sz="1100">
                          <a:effectLst/>
                        </a:rPr>
                        <a:t>NO.</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lgn="just">
                        <a:lnSpc>
                          <a:spcPts val="1340"/>
                        </a:lnSpc>
                        <a:spcBef>
                          <a:spcPts val="0"/>
                        </a:spcBef>
                        <a:spcAft>
                          <a:spcPts val="0"/>
                        </a:spcAft>
                      </a:pPr>
                      <a:r>
                        <a:rPr lang="en-US" sz="1100">
                          <a:effectLst/>
                        </a:rPr>
                        <a:t>SAMPLES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lgn="just">
                        <a:lnSpc>
                          <a:spcPts val="1340"/>
                        </a:lnSpc>
                        <a:spcBef>
                          <a:spcPts val="0"/>
                        </a:spcBef>
                        <a:spcAft>
                          <a:spcPts val="0"/>
                        </a:spcAft>
                      </a:pPr>
                      <a:r>
                        <a:rPr lang="en-US" sz="1100">
                          <a:effectLst/>
                        </a:rPr>
                        <a:t>TEMPERATURE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marR="0" algn="just">
                        <a:lnSpc>
                          <a:spcPts val="1340"/>
                        </a:lnSpc>
                        <a:spcBef>
                          <a:spcPts val="0"/>
                        </a:spcBef>
                        <a:spcAft>
                          <a:spcPts val="0"/>
                        </a:spcAft>
                      </a:pPr>
                      <a:r>
                        <a:rPr lang="en-US" sz="1100">
                          <a:effectLst/>
                        </a:rPr>
                        <a:t>HEATING</a:t>
                      </a:r>
                      <a:r>
                        <a:rPr lang="en-US" sz="1100" spc="-10">
                          <a:effectLst/>
                        </a:rPr>
                        <a:t> </a:t>
                      </a:r>
                      <a:r>
                        <a:rPr lang="en-US" sz="1100">
                          <a:effectLst/>
                        </a:rPr>
                        <a:t>TIME</a:t>
                      </a:r>
                    </a:p>
                    <a:p>
                      <a:pPr marL="67310" marR="0" algn="just">
                        <a:lnSpc>
                          <a:spcPts val="1340"/>
                        </a:lnSpc>
                        <a:spcBef>
                          <a:spcPts val="205"/>
                        </a:spcBef>
                        <a:spcAft>
                          <a:spcPts val="0"/>
                        </a:spcAft>
                      </a:pPr>
                      <a:r>
                        <a:rPr lang="en-US" sz="1100">
                          <a:effectLst/>
                        </a:rPr>
                        <a:t>(min)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marR="0" algn="just">
                        <a:lnSpc>
                          <a:spcPts val="1340"/>
                        </a:lnSpc>
                        <a:spcBef>
                          <a:spcPts val="0"/>
                        </a:spcBef>
                        <a:spcAft>
                          <a:spcPts val="0"/>
                        </a:spcAft>
                      </a:pPr>
                      <a:r>
                        <a:rPr lang="en-US" sz="1100">
                          <a:effectLst/>
                        </a:rPr>
                        <a:t>MATERIAL</a:t>
                      </a:r>
                      <a:r>
                        <a:rPr lang="en-US" sz="1100" spc="-5">
                          <a:effectLst/>
                        </a:rPr>
                        <a:t> </a:t>
                      </a:r>
                      <a:r>
                        <a:rPr lang="en-US" sz="1100">
                          <a:effectLst/>
                        </a:rPr>
                        <a:t>USED</a:t>
                      </a:r>
                    </a:p>
                    <a:p>
                      <a:pPr marL="67310" marR="0" algn="just">
                        <a:lnSpc>
                          <a:spcPts val="1340"/>
                        </a:lnSpc>
                        <a:spcBef>
                          <a:spcPts val="205"/>
                        </a:spcBef>
                        <a:spcAft>
                          <a:spcPts val="0"/>
                        </a:spcAft>
                      </a:pPr>
                      <a:r>
                        <a:rPr lang="en-US" sz="1100">
                          <a:effectLst/>
                        </a:rPr>
                        <a:t>(scoops)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59856205"/>
                  </a:ext>
                </a:extLst>
              </a:tr>
              <a:tr h="433462">
                <a:tc>
                  <a:txBody>
                    <a:bodyPr/>
                    <a:lstStyle/>
                    <a:p>
                      <a:pPr marL="67945" marR="0" algn="just">
                        <a:lnSpc>
                          <a:spcPts val="1340"/>
                        </a:lnSpc>
                        <a:spcBef>
                          <a:spcPts val="0"/>
                        </a:spcBef>
                        <a:spcAft>
                          <a:spcPts val="0"/>
                        </a:spcAft>
                      </a:pPr>
                      <a:r>
                        <a:rPr lang="en-US" sz="1100">
                          <a:effectLst/>
                        </a:rPr>
                        <a:t>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lgn="just">
                        <a:lnSpc>
                          <a:spcPts val="1340"/>
                        </a:lnSpc>
                        <a:spcBef>
                          <a:spcPts val="0"/>
                        </a:spcBef>
                        <a:spcAft>
                          <a:spcPts val="0"/>
                        </a:spcAft>
                      </a:pPr>
                      <a:r>
                        <a:rPr lang="en-US" sz="1100" dirty="0">
                          <a:effectLst/>
                        </a:rPr>
                        <a:t>SAMPLE</a:t>
                      </a:r>
                      <a:r>
                        <a:rPr lang="en-US" sz="1100" spc="-15" dirty="0">
                          <a:effectLst/>
                        </a:rPr>
                        <a:t> </a:t>
                      </a:r>
                      <a:r>
                        <a:rPr lang="en-US" sz="1100" dirty="0">
                          <a:effectLst/>
                        </a:rPr>
                        <a:t>1</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945" marR="0" algn="just">
                        <a:lnSpc>
                          <a:spcPts val="1340"/>
                        </a:lnSpc>
                        <a:spcBef>
                          <a:spcPts val="0"/>
                        </a:spcBef>
                        <a:spcAft>
                          <a:spcPts val="0"/>
                        </a:spcAft>
                      </a:pPr>
                      <a:r>
                        <a:rPr lang="en-US" sz="1100" dirty="0">
                          <a:effectLst/>
                        </a:rPr>
                        <a:t>168</a:t>
                      </a:r>
                      <a:r>
                        <a:rPr lang="en-US" sz="1050" dirty="0">
                          <a:effectLst/>
                        </a:rPr>
                        <a:t>°</a:t>
                      </a:r>
                      <a:r>
                        <a:rPr lang="en-US" sz="1100" dirty="0">
                          <a:effectLst/>
                        </a:rPr>
                        <a:t>C</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310" marR="0" algn="just">
                        <a:lnSpc>
                          <a:spcPts val="1340"/>
                        </a:lnSpc>
                        <a:spcBef>
                          <a:spcPts val="0"/>
                        </a:spcBef>
                        <a:spcAft>
                          <a:spcPts val="0"/>
                        </a:spcAft>
                      </a:pPr>
                      <a:r>
                        <a:rPr lang="en-US" sz="1100" dirty="0">
                          <a:effectLst/>
                        </a:rPr>
                        <a:t>10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945" marR="0" algn="just" defTabSz="914400" rtl="0" eaLnBrk="1" latinLnBrk="0" hangingPunct="1">
                        <a:lnSpc>
                          <a:spcPts val="1340"/>
                        </a:lnSpc>
                        <a:spcBef>
                          <a:spcPts val="0"/>
                        </a:spcBef>
                        <a:spcAft>
                          <a:spcPts val="0"/>
                        </a:spcAft>
                      </a:pPr>
                      <a:r>
                        <a:rPr lang="en-US" sz="1100" b="0" kern="1200" dirty="0">
                          <a:solidFill>
                            <a:schemeClr val="tx1"/>
                          </a:solidFill>
                          <a:effectLst/>
                          <a:latin typeface="+mn-lt"/>
                          <a:ea typeface="+mn-ea"/>
                          <a:cs typeface="+mn-cs"/>
                        </a:rPr>
                        <a:t>1</a:t>
                      </a:r>
                    </a:p>
                  </a:txBody>
                  <a:tcPr marL="0" marR="0" marT="0" marB="0">
                    <a:solidFill>
                      <a:schemeClr val="accent1">
                        <a:lumMod val="40000"/>
                        <a:lumOff val="60000"/>
                      </a:schemeClr>
                    </a:solidFill>
                  </a:tcPr>
                </a:tc>
                <a:extLst>
                  <a:ext uri="{0D108BD9-81ED-4DB2-BD59-A6C34878D82A}">
                    <a16:rowId xmlns:a16="http://schemas.microsoft.com/office/drawing/2014/main" val="7925636"/>
                  </a:ext>
                </a:extLst>
              </a:tr>
              <a:tr h="445408">
                <a:tc>
                  <a:txBody>
                    <a:bodyPr/>
                    <a:lstStyle/>
                    <a:p>
                      <a:pPr marL="67945" marR="0" algn="just">
                        <a:lnSpc>
                          <a:spcPts val="1340"/>
                        </a:lnSpc>
                        <a:spcBef>
                          <a:spcPts val="0"/>
                        </a:spcBef>
                        <a:spcAft>
                          <a:spcPts val="0"/>
                        </a:spcAft>
                      </a:pPr>
                      <a:r>
                        <a:rPr lang="en-US" sz="1100">
                          <a:effectLst/>
                        </a:rPr>
                        <a:t>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lgn="just">
                        <a:lnSpc>
                          <a:spcPts val="1340"/>
                        </a:lnSpc>
                        <a:spcBef>
                          <a:spcPts val="0"/>
                        </a:spcBef>
                        <a:spcAft>
                          <a:spcPts val="0"/>
                        </a:spcAft>
                      </a:pPr>
                      <a:r>
                        <a:rPr lang="en-US" sz="1100" dirty="0">
                          <a:effectLst/>
                        </a:rPr>
                        <a:t>SAMPLE</a:t>
                      </a:r>
                      <a:r>
                        <a:rPr lang="en-US" sz="1100" spc="-15" dirty="0">
                          <a:effectLst/>
                        </a:rPr>
                        <a:t> </a:t>
                      </a:r>
                      <a:r>
                        <a:rPr lang="en-US" sz="1100" dirty="0">
                          <a:effectLst/>
                        </a:rPr>
                        <a:t>2</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945" marR="0" algn="just">
                        <a:lnSpc>
                          <a:spcPts val="1410"/>
                        </a:lnSpc>
                        <a:spcBef>
                          <a:spcPts val="0"/>
                        </a:spcBef>
                        <a:spcAft>
                          <a:spcPts val="0"/>
                        </a:spcAft>
                      </a:pPr>
                      <a:r>
                        <a:rPr lang="en-US" sz="1100" dirty="0">
                          <a:effectLst/>
                        </a:rPr>
                        <a:t>168°</a:t>
                      </a:r>
                      <a:r>
                        <a:rPr lang="en-US" sz="1200" dirty="0">
                          <a:effectLst/>
                        </a:rPr>
                        <a:t>C</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310" marR="0" algn="just">
                        <a:lnSpc>
                          <a:spcPts val="1340"/>
                        </a:lnSpc>
                        <a:spcBef>
                          <a:spcPts val="0"/>
                        </a:spcBef>
                        <a:spcAft>
                          <a:spcPts val="0"/>
                        </a:spcAft>
                      </a:pPr>
                      <a:r>
                        <a:rPr lang="en-US" sz="1100" dirty="0">
                          <a:effectLst/>
                        </a:rPr>
                        <a:t>10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945" marR="0" algn="just" defTabSz="914400" rtl="0" eaLnBrk="1" latinLnBrk="0" hangingPunct="1">
                        <a:lnSpc>
                          <a:spcPts val="1340"/>
                        </a:lnSpc>
                        <a:spcBef>
                          <a:spcPts val="0"/>
                        </a:spcBef>
                        <a:spcAft>
                          <a:spcPts val="0"/>
                        </a:spcAft>
                      </a:pPr>
                      <a:r>
                        <a:rPr lang="en-US" sz="1100" b="0" kern="1200" dirty="0">
                          <a:solidFill>
                            <a:schemeClr val="tx1"/>
                          </a:solidFill>
                          <a:effectLst/>
                          <a:latin typeface="+mn-lt"/>
                          <a:ea typeface="+mn-ea"/>
                          <a:cs typeface="+mn-cs"/>
                        </a:rPr>
                        <a:t>1</a:t>
                      </a:r>
                    </a:p>
                  </a:txBody>
                  <a:tcPr marL="0" marR="0" marT="0" marB="0">
                    <a:solidFill>
                      <a:schemeClr val="accent1">
                        <a:lumMod val="40000"/>
                        <a:lumOff val="60000"/>
                      </a:schemeClr>
                    </a:solidFill>
                  </a:tcPr>
                </a:tc>
                <a:extLst>
                  <a:ext uri="{0D108BD9-81ED-4DB2-BD59-A6C34878D82A}">
                    <a16:rowId xmlns:a16="http://schemas.microsoft.com/office/drawing/2014/main" val="1200324834"/>
                  </a:ext>
                </a:extLst>
              </a:tr>
              <a:tr h="415318">
                <a:tc>
                  <a:txBody>
                    <a:bodyPr/>
                    <a:lstStyle/>
                    <a:p>
                      <a:pPr marL="67945" marR="0" algn="just">
                        <a:lnSpc>
                          <a:spcPts val="1340"/>
                        </a:lnSpc>
                        <a:spcBef>
                          <a:spcPts val="5"/>
                        </a:spcBef>
                        <a:spcAft>
                          <a:spcPts val="0"/>
                        </a:spcAft>
                      </a:pPr>
                      <a:r>
                        <a:rPr lang="en-US" sz="1100">
                          <a:effectLst/>
                        </a:rPr>
                        <a:t>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lgn="just">
                        <a:lnSpc>
                          <a:spcPts val="1340"/>
                        </a:lnSpc>
                        <a:spcBef>
                          <a:spcPts val="5"/>
                        </a:spcBef>
                        <a:spcAft>
                          <a:spcPts val="0"/>
                        </a:spcAft>
                      </a:pPr>
                      <a:r>
                        <a:rPr lang="en-US" sz="1100" dirty="0">
                          <a:effectLst/>
                        </a:rPr>
                        <a:t>SAMPLE</a:t>
                      </a:r>
                      <a:r>
                        <a:rPr lang="en-US" sz="1100" spc="-15" dirty="0">
                          <a:effectLst/>
                        </a:rPr>
                        <a:t> </a:t>
                      </a:r>
                      <a:r>
                        <a:rPr lang="en-US" sz="1100" dirty="0">
                          <a:effectLst/>
                        </a:rPr>
                        <a:t>3</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945" marR="0" algn="just">
                        <a:lnSpc>
                          <a:spcPts val="1340"/>
                        </a:lnSpc>
                        <a:spcBef>
                          <a:spcPts val="5"/>
                        </a:spcBef>
                        <a:spcAft>
                          <a:spcPts val="0"/>
                        </a:spcAft>
                      </a:pPr>
                      <a:r>
                        <a:rPr lang="en-US" sz="1100" dirty="0">
                          <a:effectLst/>
                        </a:rPr>
                        <a:t>160°</a:t>
                      </a:r>
                      <a:r>
                        <a:rPr lang="en-US" sz="1200" dirty="0">
                          <a:effectLst/>
                        </a:rPr>
                        <a:t>C</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310" marR="0" algn="just">
                        <a:lnSpc>
                          <a:spcPts val="1340"/>
                        </a:lnSpc>
                        <a:spcBef>
                          <a:spcPts val="5"/>
                        </a:spcBef>
                        <a:spcAft>
                          <a:spcPts val="0"/>
                        </a:spcAft>
                      </a:pPr>
                      <a:r>
                        <a:rPr lang="en-US" sz="1100" dirty="0">
                          <a:effectLst/>
                        </a:rPr>
                        <a:t>10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945" marR="0" algn="just" defTabSz="914400" rtl="0" eaLnBrk="1" latinLnBrk="0" hangingPunct="1">
                        <a:lnSpc>
                          <a:spcPts val="1340"/>
                        </a:lnSpc>
                        <a:spcBef>
                          <a:spcPts val="0"/>
                        </a:spcBef>
                        <a:spcAft>
                          <a:spcPts val="0"/>
                        </a:spcAft>
                      </a:pPr>
                      <a:r>
                        <a:rPr lang="en-US" sz="1100" b="0" kern="1200" dirty="0">
                          <a:solidFill>
                            <a:schemeClr val="tx1"/>
                          </a:solidFill>
                          <a:effectLst/>
                          <a:latin typeface="+mn-lt"/>
                          <a:ea typeface="+mn-ea"/>
                          <a:cs typeface="+mn-cs"/>
                        </a:rPr>
                        <a:t>1</a:t>
                      </a:r>
                    </a:p>
                  </a:txBody>
                  <a:tcPr marL="0" marR="0" marT="0" marB="0">
                    <a:solidFill>
                      <a:schemeClr val="accent1">
                        <a:lumMod val="40000"/>
                        <a:lumOff val="60000"/>
                      </a:schemeClr>
                    </a:solidFill>
                  </a:tcPr>
                </a:tc>
                <a:extLst>
                  <a:ext uri="{0D108BD9-81ED-4DB2-BD59-A6C34878D82A}">
                    <a16:rowId xmlns:a16="http://schemas.microsoft.com/office/drawing/2014/main" val="1910182428"/>
                  </a:ext>
                </a:extLst>
              </a:tr>
              <a:tr h="447968">
                <a:tc>
                  <a:txBody>
                    <a:bodyPr/>
                    <a:lstStyle/>
                    <a:p>
                      <a:pPr marL="67945" marR="0" algn="just">
                        <a:lnSpc>
                          <a:spcPts val="1340"/>
                        </a:lnSpc>
                        <a:spcBef>
                          <a:spcPts val="0"/>
                        </a:spcBef>
                        <a:spcAft>
                          <a:spcPts val="0"/>
                        </a:spcAft>
                      </a:pPr>
                      <a:r>
                        <a:rPr lang="en-US" sz="1100">
                          <a:effectLst/>
                        </a:rPr>
                        <a:t>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0" algn="just">
                        <a:lnSpc>
                          <a:spcPts val="1340"/>
                        </a:lnSpc>
                        <a:spcBef>
                          <a:spcPts val="0"/>
                        </a:spcBef>
                        <a:spcAft>
                          <a:spcPts val="0"/>
                        </a:spcAft>
                      </a:pPr>
                      <a:r>
                        <a:rPr lang="en-US" sz="1100" b="0" dirty="0">
                          <a:solidFill>
                            <a:schemeClr val="tx1"/>
                          </a:solidFill>
                          <a:effectLst/>
                        </a:rPr>
                        <a:t>SAMPLE</a:t>
                      </a:r>
                      <a:r>
                        <a:rPr lang="en-US" sz="1100" b="0" spc="-15" dirty="0">
                          <a:solidFill>
                            <a:schemeClr val="tx1"/>
                          </a:solidFill>
                          <a:effectLst/>
                        </a:rPr>
                        <a:t> </a:t>
                      </a:r>
                      <a:r>
                        <a:rPr lang="en-US" sz="1100" b="0" dirty="0">
                          <a:solidFill>
                            <a:schemeClr val="tx1"/>
                          </a:solidFill>
                          <a:effectLst/>
                        </a:rPr>
                        <a:t>4</a:t>
                      </a:r>
                      <a:endParaRPr lang="en-US" sz="11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67945" marR="0" algn="just" defTabSz="914400" rtl="0" eaLnBrk="1" latinLnBrk="0" hangingPunct="1">
                        <a:lnSpc>
                          <a:spcPts val="1340"/>
                        </a:lnSpc>
                        <a:spcBef>
                          <a:spcPts val="0"/>
                        </a:spcBef>
                        <a:spcAft>
                          <a:spcPts val="0"/>
                        </a:spcAft>
                      </a:pPr>
                      <a:r>
                        <a:rPr lang="en-US" sz="1100" b="0" kern="1200" dirty="0">
                          <a:solidFill>
                            <a:schemeClr val="tx1"/>
                          </a:solidFill>
                          <a:effectLst/>
                          <a:latin typeface="+mn-lt"/>
                          <a:ea typeface="+mn-ea"/>
                          <a:cs typeface="+mn-cs"/>
                        </a:rPr>
                        <a:t>160° C</a:t>
                      </a:r>
                    </a:p>
                  </a:txBody>
                  <a:tcPr marL="0" marR="0" marT="0" marB="0">
                    <a:solidFill>
                      <a:schemeClr val="accent1">
                        <a:lumMod val="40000"/>
                        <a:lumOff val="60000"/>
                      </a:schemeClr>
                    </a:solidFill>
                  </a:tcPr>
                </a:tc>
                <a:tc>
                  <a:txBody>
                    <a:bodyPr/>
                    <a:lstStyle/>
                    <a:p>
                      <a:pPr marL="67945" marR="0" algn="just" defTabSz="914400" rtl="0" eaLnBrk="1" latinLnBrk="0" hangingPunct="1">
                        <a:lnSpc>
                          <a:spcPts val="1340"/>
                        </a:lnSpc>
                        <a:spcBef>
                          <a:spcPts val="0"/>
                        </a:spcBef>
                        <a:spcAft>
                          <a:spcPts val="0"/>
                        </a:spcAft>
                      </a:pPr>
                      <a:r>
                        <a:rPr lang="en-US" sz="1100" b="0" kern="1200" dirty="0">
                          <a:solidFill>
                            <a:schemeClr val="tx1"/>
                          </a:solidFill>
                          <a:effectLst/>
                          <a:latin typeface="+mn-lt"/>
                          <a:ea typeface="+mn-ea"/>
                          <a:cs typeface="+mn-cs"/>
                        </a:rPr>
                        <a:t>10</a:t>
                      </a:r>
                    </a:p>
                  </a:txBody>
                  <a:tcPr marL="0" marR="0" marT="0" marB="0">
                    <a:solidFill>
                      <a:schemeClr val="accent1">
                        <a:lumMod val="40000"/>
                        <a:lumOff val="60000"/>
                      </a:schemeClr>
                    </a:solidFill>
                  </a:tcPr>
                </a:tc>
                <a:tc>
                  <a:txBody>
                    <a:bodyPr/>
                    <a:lstStyle/>
                    <a:p>
                      <a:pPr marL="67945" marR="0" algn="just" defTabSz="914400" rtl="0" eaLnBrk="1" latinLnBrk="0" hangingPunct="1">
                        <a:lnSpc>
                          <a:spcPts val="1340"/>
                        </a:lnSpc>
                        <a:spcBef>
                          <a:spcPts val="0"/>
                        </a:spcBef>
                        <a:spcAft>
                          <a:spcPts val="0"/>
                        </a:spcAft>
                      </a:pPr>
                      <a:r>
                        <a:rPr lang="en-US" sz="1100" b="0" kern="1200" dirty="0">
                          <a:solidFill>
                            <a:schemeClr val="tx1"/>
                          </a:solidFill>
                          <a:effectLst/>
                          <a:latin typeface="+mn-lt"/>
                          <a:ea typeface="+mn-ea"/>
                          <a:cs typeface="+mn-cs"/>
                        </a:rPr>
                        <a:t>1</a:t>
                      </a:r>
                    </a:p>
                  </a:txBody>
                  <a:tcPr marL="0" marR="0" marT="0" marB="0">
                    <a:solidFill>
                      <a:schemeClr val="accent1">
                        <a:lumMod val="40000"/>
                        <a:lumOff val="60000"/>
                      </a:schemeClr>
                    </a:solidFill>
                  </a:tcPr>
                </a:tc>
                <a:extLst>
                  <a:ext uri="{0D108BD9-81ED-4DB2-BD59-A6C34878D82A}">
                    <a16:rowId xmlns:a16="http://schemas.microsoft.com/office/drawing/2014/main" val="1611965773"/>
                  </a:ext>
                </a:extLst>
              </a:tr>
            </a:tbl>
          </a:graphicData>
        </a:graphic>
      </p:graphicFrame>
    </p:spTree>
    <p:extLst>
      <p:ext uri="{BB962C8B-B14F-4D97-AF65-F5344CB8AC3E}">
        <p14:creationId xmlns:p14="http://schemas.microsoft.com/office/powerpoint/2010/main" val="1307462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Polishing</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16765" y="2490435"/>
            <a:ext cx="9708995" cy="3567173"/>
          </a:xfrm>
        </p:spPr>
        <p:txBody>
          <a:bodyPr anchor="ctr">
            <a:normAutofit/>
          </a:bodyPr>
          <a:lstStyle/>
          <a:p>
            <a:pPr marL="0" indent="0">
              <a:buNone/>
            </a:pPr>
            <a:r>
              <a:rPr lang="en-US" sz="2400" dirty="0"/>
              <a:t>Finishing was done with the aid of Manual and Machine grinder by using different grit sizes. After initial flattening using coarsest diamond grades further polishing was done using diamond paste (</a:t>
            </a:r>
            <a:r>
              <a:rPr lang="en-US" sz="2400" dirty="0">
                <a:effectLst/>
                <a:latin typeface="Times New Roman" panose="02020603050405020304" pitchFamily="18" charset="0"/>
                <a:ea typeface="Times New Roman" panose="02020603050405020304" pitchFamily="18" charset="0"/>
              </a:rPr>
              <a:t>1µm &amp; 0.25µm). Finally samples are wiped in digital ultrasonic purifier with acetone solution. </a:t>
            </a:r>
          </a:p>
          <a:p>
            <a:pPr marL="0" indent="0">
              <a:buNone/>
            </a:pPr>
            <a:endParaRPr lang="en-US" sz="2400" dirty="0">
              <a:latin typeface="Times New Roman" panose="02020603050405020304" pitchFamily="18" charset="0"/>
              <a:ea typeface="Times New Roman" panose="02020603050405020304" pitchFamily="18" charset="0"/>
            </a:endParaRPr>
          </a:p>
          <a:p>
            <a:pPr marL="0" indent="0">
              <a:buNone/>
            </a:pPr>
            <a:endParaRPr lang="en-US" sz="2400" dirty="0">
              <a:effectLst/>
              <a:latin typeface="Times New Roman" panose="02020603050405020304" pitchFamily="18" charset="0"/>
              <a:ea typeface="Times New Roman" panose="02020603050405020304" pitchFamily="18" charset="0"/>
            </a:endParaRPr>
          </a:p>
          <a:p>
            <a:pPr marL="0" indent="0">
              <a:buNone/>
            </a:pPr>
            <a:endParaRPr lang="en-US" sz="2400" dirty="0">
              <a:latin typeface="Times New Roman" panose="02020603050405020304" pitchFamily="18" charset="0"/>
            </a:endParaRPr>
          </a:p>
          <a:p>
            <a:pPr marL="0" indent="0">
              <a:buNone/>
            </a:pPr>
            <a:endParaRPr lang="en-US" sz="2400" dirty="0"/>
          </a:p>
        </p:txBody>
      </p:sp>
      <p:graphicFrame>
        <p:nvGraphicFramePr>
          <p:cNvPr id="5" name="Table 4">
            <a:extLst>
              <a:ext uri="{FF2B5EF4-FFF2-40B4-BE49-F238E27FC236}">
                <a16:creationId xmlns:a16="http://schemas.microsoft.com/office/drawing/2014/main" id="{5B5C2AAF-D19A-4EA8-811C-4F0707EC79D3}"/>
              </a:ext>
            </a:extLst>
          </p:cNvPr>
          <p:cNvGraphicFramePr>
            <a:graphicFrameLocks noGrp="1"/>
          </p:cNvGraphicFramePr>
          <p:nvPr>
            <p:extLst>
              <p:ext uri="{D42A27DB-BD31-4B8C-83A1-F6EECF244321}">
                <p14:modId xmlns:p14="http://schemas.microsoft.com/office/powerpoint/2010/main" val="915134683"/>
              </p:ext>
            </p:extLst>
          </p:nvPr>
        </p:nvGraphicFramePr>
        <p:xfrm>
          <a:off x="2229123" y="4277441"/>
          <a:ext cx="4777852" cy="1987170"/>
        </p:xfrm>
        <a:graphic>
          <a:graphicData uri="http://schemas.openxmlformats.org/drawingml/2006/table">
            <a:tbl>
              <a:tblPr firstRow="1" firstCol="1" lastRow="1" lastCol="1" bandRow="1" bandCol="1">
                <a:tableStyleId>{5C22544A-7EE6-4342-B048-85BDC9FD1C3A}</a:tableStyleId>
              </a:tblPr>
              <a:tblGrid>
                <a:gridCol w="757583">
                  <a:extLst>
                    <a:ext uri="{9D8B030D-6E8A-4147-A177-3AD203B41FA5}">
                      <a16:colId xmlns:a16="http://schemas.microsoft.com/office/drawing/2014/main" val="708313184"/>
                    </a:ext>
                  </a:extLst>
                </a:gridCol>
                <a:gridCol w="1304818">
                  <a:extLst>
                    <a:ext uri="{9D8B030D-6E8A-4147-A177-3AD203B41FA5}">
                      <a16:colId xmlns:a16="http://schemas.microsoft.com/office/drawing/2014/main" val="1516651603"/>
                    </a:ext>
                  </a:extLst>
                </a:gridCol>
                <a:gridCol w="1140431">
                  <a:extLst>
                    <a:ext uri="{9D8B030D-6E8A-4147-A177-3AD203B41FA5}">
                      <a16:colId xmlns:a16="http://schemas.microsoft.com/office/drawing/2014/main" val="3735756206"/>
                    </a:ext>
                  </a:extLst>
                </a:gridCol>
                <a:gridCol w="1575020">
                  <a:extLst>
                    <a:ext uri="{9D8B030D-6E8A-4147-A177-3AD203B41FA5}">
                      <a16:colId xmlns:a16="http://schemas.microsoft.com/office/drawing/2014/main" val="1484445308"/>
                    </a:ext>
                  </a:extLst>
                </a:gridCol>
              </a:tblGrid>
              <a:tr h="397434">
                <a:tc>
                  <a:txBody>
                    <a:bodyPr/>
                    <a:lstStyle/>
                    <a:p>
                      <a:pPr marL="67945" marR="0" algn="just">
                        <a:lnSpc>
                          <a:spcPts val="1340"/>
                        </a:lnSpc>
                        <a:spcBef>
                          <a:spcPts val="0"/>
                        </a:spcBef>
                        <a:spcAft>
                          <a:spcPts val="0"/>
                        </a:spcAft>
                      </a:pPr>
                      <a:r>
                        <a:rPr lang="en-US" sz="1100">
                          <a:effectLst/>
                        </a:rPr>
                        <a:t>SAMPLES</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tc>
                  <a:txBody>
                    <a:bodyPr/>
                    <a:lstStyle/>
                    <a:p>
                      <a:pPr marL="248920" marR="349885" algn="just">
                        <a:lnSpc>
                          <a:spcPts val="1340"/>
                        </a:lnSpc>
                        <a:spcBef>
                          <a:spcPts val="0"/>
                        </a:spcBef>
                        <a:spcAft>
                          <a:spcPts val="0"/>
                        </a:spcAft>
                      </a:pPr>
                      <a:r>
                        <a:rPr lang="en-US" sz="1100">
                          <a:effectLst/>
                        </a:rPr>
                        <a:t>GRIT</a:t>
                      </a:r>
                      <a:r>
                        <a:rPr lang="en-US" sz="1100" spc="-20">
                          <a:effectLst/>
                        </a:rPr>
                        <a:t> </a:t>
                      </a:r>
                      <a:r>
                        <a:rPr lang="en-US" sz="1100">
                          <a:effectLst/>
                        </a:rPr>
                        <a:t>SIZE</a:t>
                      </a:r>
                      <a:r>
                        <a:rPr lang="en-US" sz="1100" spc="-5">
                          <a:effectLst/>
                        </a:rPr>
                        <a:t> </a:t>
                      </a:r>
                      <a:r>
                        <a:rPr lang="en-US" sz="1100">
                          <a:effectLst/>
                        </a:rPr>
                        <a:t>(</a:t>
                      </a:r>
                      <a:r>
                        <a:rPr lang="en-US" sz="1050">
                          <a:effectLst/>
                        </a:rPr>
                        <a:t>µm)</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tc>
                  <a:txBody>
                    <a:bodyPr/>
                    <a:lstStyle/>
                    <a:p>
                      <a:pPr marL="353695" marR="0" algn="just">
                        <a:lnSpc>
                          <a:spcPts val="1340"/>
                        </a:lnSpc>
                        <a:spcBef>
                          <a:spcPts val="0"/>
                        </a:spcBef>
                        <a:spcAft>
                          <a:spcPts val="0"/>
                        </a:spcAft>
                      </a:pPr>
                      <a:r>
                        <a:rPr lang="en-US" sz="1100">
                          <a:effectLst/>
                        </a:rPr>
                        <a:t>LUBRICANT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tc>
                  <a:txBody>
                    <a:bodyPr/>
                    <a:lstStyle/>
                    <a:p>
                      <a:pPr marL="196850" marR="0" algn="just">
                        <a:lnSpc>
                          <a:spcPts val="1340"/>
                        </a:lnSpc>
                        <a:spcBef>
                          <a:spcPts val="0"/>
                        </a:spcBef>
                        <a:spcAft>
                          <a:spcPts val="0"/>
                        </a:spcAft>
                      </a:pPr>
                      <a:r>
                        <a:rPr lang="en-US" sz="1100" dirty="0">
                          <a:effectLst/>
                        </a:rPr>
                        <a:t>TIME</a:t>
                      </a:r>
                      <a:r>
                        <a:rPr lang="en-US" sz="1100" spc="-25" dirty="0">
                          <a:effectLst/>
                        </a:rPr>
                        <a:t> </a:t>
                      </a:r>
                      <a:r>
                        <a:rPr lang="en-US" sz="1100" dirty="0">
                          <a:effectLst/>
                        </a:rPr>
                        <a:t>(mins</a:t>
                      </a:r>
                      <a:r>
                        <a:rPr lang="en-US" sz="1100" spc="-15" dirty="0">
                          <a:effectLst/>
                        </a:rPr>
                        <a:t> </a:t>
                      </a:r>
                      <a:r>
                        <a:rPr lang="en-US" sz="1100" dirty="0">
                          <a:effectLst/>
                        </a:rPr>
                        <a:t>/sample)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extLst>
                  <a:ext uri="{0D108BD9-81ED-4DB2-BD59-A6C34878D82A}">
                    <a16:rowId xmlns:a16="http://schemas.microsoft.com/office/drawing/2014/main" val="1705628481"/>
                  </a:ext>
                </a:extLst>
              </a:tr>
              <a:tr h="397434">
                <a:tc>
                  <a:txBody>
                    <a:bodyPr/>
                    <a:lstStyle/>
                    <a:p>
                      <a:pPr marL="290830" marR="0" algn="just">
                        <a:lnSpc>
                          <a:spcPts val="1340"/>
                        </a:lnSpc>
                        <a:spcBef>
                          <a:spcPts val="0"/>
                        </a:spcBef>
                        <a:spcAft>
                          <a:spcPts val="0"/>
                        </a:spcAft>
                      </a:pPr>
                      <a:r>
                        <a:rPr lang="en-US" sz="1100" dirty="0">
                          <a:effectLst/>
                        </a:rPr>
                        <a:t>1</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tc>
                  <a:txBody>
                    <a:bodyPr/>
                    <a:lstStyle/>
                    <a:p>
                      <a:pPr marL="189865" marR="349885" algn="just">
                        <a:lnSpc>
                          <a:spcPts val="1340"/>
                        </a:lnSpc>
                        <a:spcBef>
                          <a:spcPts val="0"/>
                        </a:spcBef>
                        <a:spcAft>
                          <a:spcPts val="0"/>
                        </a:spcAft>
                      </a:pPr>
                      <a:r>
                        <a:rPr lang="en-US" sz="1100" dirty="0">
                          <a:effectLst/>
                        </a:rPr>
                        <a:t>400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385445" marR="0" algn="just">
                        <a:lnSpc>
                          <a:spcPts val="1340"/>
                        </a:lnSpc>
                        <a:spcBef>
                          <a:spcPts val="0"/>
                        </a:spcBef>
                        <a:spcAft>
                          <a:spcPts val="0"/>
                        </a:spcAft>
                      </a:pPr>
                      <a:r>
                        <a:rPr lang="en-US" sz="1100">
                          <a:effectLst/>
                        </a:rPr>
                        <a:t>Water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199390" marR="349885" algn="just" defTabSz="914400" rtl="0" eaLnBrk="1" latinLnBrk="0" hangingPunct="1">
                        <a:lnSpc>
                          <a:spcPts val="1340"/>
                        </a:lnSpc>
                        <a:spcBef>
                          <a:spcPts val="5"/>
                        </a:spcBef>
                        <a:spcAft>
                          <a:spcPts val="0"/>
                        </a:spcAft>
                      </a:pPr>
                      <a:r>
                        <a:rPr lang="en-US" sz="1100" b="0" kern="1200" dirty="0">
                          <a:solidFill>
                            <a:schemeClr val="dk1"/>
                          </a:solidFill>
                          <a:effectLst/>
                          <a:latin typeface="+mn-lt"/>
                          <a:ea typeface="+mn-ea"/>
                          <a:cs typeface="+mn-cs"/>
                        </a:rPr>
                        <a:t>15</a:t>
                      </a:r>
                    </a:p>
                  </a:txBody>
                  <a:tcPr marL="0" marR="0" marT="0" marB="0">
                    <a:solidFill>
                      <a:schemeClr val="accent1">
                        <a:lumMod val="40000"/>
                        <a:lumOff val="60000"/>
                      </a:schemeClr>
                    </a:solidFill>
                  </a:tcPr>
                </a:tc>
                <a:extLst>
                  <a:ext uri="{0D108BD9-81ED-4DB2-BD59-A6C34878D82A}">
                    <a16:rowId xmlns:a16="http://schemas.microsoft.com/office/drawing/2014/main" val="4174884131"/>
                  </a:ext>
                </a:extLst>
              </a:tr>
              <a:tr h="397434">
                <a:tc>
                  <a:txBody>
                    <a:bodyPr/>
                    <a:lstStyle/>
                    <a:p>
                      <a:pPr marL="258445" marR="0" algn="just">
                        <a:lnSpc>
                          <a:spcPts val="1340"/>
                        </a:lnSpc>
                        <a:spcBef>
                          <a:spcPts val="0"/>
                        </a:spcBef>
                        <a:spcAft>
                          <a:spcPts val="0"/>
                        </a:spcAft>
                      </a:pPr>
                      <a:r>
                        <a:rPr lang="en-US" sz="1100">
                          <a:effectLst/>
                        </a:rPr>
                        <a:t>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tc>
                  <a:txBody>
                    <a:bodyPr/>
                    <a:lstStyle/>
                    <a:p>
                      <a:pPr marL="189865" marR="349885" algn="just">
                        <a:lnSpc>
                          <a:spcPts val="1340"/>
                        </a:lnSpc>
                        <a:spcBef>
                          <a:spcPts val="0"/>
                        </a:spcBef>
                        <a:spcAft>
                          <a:spcPts val="0"/>
                        </a:spcAft>
                      </a:pPr>
                      <a:r>
                        <a:rPr lang="en-US" sz="1100" dirty="0">
                          <a:effectLst/>
                        </a:rPr>
                        <a:t>800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385445" marR="0" algn="just">
                        <a:lnSpc>
                          <a:spcPts val="1340"/>
                        </a:lnSpc>
                        <a:spcBef>
                          <a:spcPts val="0"/>
                        </a:spcBef>
                        <a:spcAft>
                          <a:spcPts val="0"/>
                        </a:spcAft>
                      </a:pPr>
                      <a:r>
                        <a:rPr lang="en-US" sz="1100">
                          <a:effectLst/>
                        </a:rPr>
                        <a:t>water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199390" marR="349885" algn="just" defTabSz="914400" rtl="0" eaLnBrk="1" latinLnBrk="0" hangingPunct="1">
                        <a:lnSpc>
                          <a:spcPts val="1340"/>
                        </a:lnSpc>
                        <a:spcBef>
                          <a:spcPts val="5"/>
                        </a:spcBef>
                        <a:spcAft>
                          <a:spcPts val="0"/>
                        </a:spcAft>
                      </a:pPr>
                      <a:r>
                        <a:rPr lang="en-US" sz="1100" b="0" kern="1200" dirty="0">
                          <a:solidFill>
                            <a:schemeClr val="dk1"/>
                          </a:solidFill>
                          <a:effectLst/>
                          <a:latin typeface="+mn-lt"/>
                          <a:ea typeface="+mn-ea"/>
                          <a:cs typeface="+mn-cs"/>
                        </a:rPr>
                        <a:t>10</a:t>
                      </a:r>
                    </a:p>
                  </a:txBody>
                  <a:tcPr marL="0" marR="0" marT="0" marB="0">
                    <a:solidFill>
                      <a:schemeClr val="accent1">
                        <a:lumMod val="40000"/>
                        <a:lumOff val="60000"/>
                      </a:schemeClr>
                    </a:solidFill>
                  </a:tcPr>
                </a:tc>
                <a:extLst>
                  <a:ext uri="{0D108BD9-81ED-4DB2-BD59-A6C34878D82A}">
                    <a16:rowId xmlns:a16="http://schemas.microsoft.com/office/drawing/2014/main" val="494920048"/>
                  </a:ext>
                </a:extLst>
              </a:tr>
              <a:tr h="397434">
                <a:tc>
                  <a:txBody>
                    <a:bodyPr/>
                    <a:lstStyle/>
                    <a:p>
                      <a:pPr marL="258445" marR="0" algn="just">
                        <a:lnSpc>
                          <a:spcPts val="1340"/>
                        </a:lnSpc>
                        <a:spcBef>
                          <a:spcPts val="5"/>
                        </a:spcBef>
                        <a:spcAft>
                          <a:spcPts val="0"/>
                        </a:spcAft>
                      </a:pPr>
                      <a:r>
                        <a:rPr lang="en-US" sz="1100" dirty="0">
                          <a:effectLst/>
                        </a:rPr>
                        <a:t>3</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tc>
                  <a:txBody>
                    <a:bodyPr/>
                    <a:lstStyle/>
                    <a:p>
                      <a:pPr marL="199390" marR="349885" algn="just">
                        <a:lnSpc>
                          <a:spcPts val="1340"/>
                        </a:lnSpc>
                        <a:spcBef>
                          <a:spcPts val="5"/>
                        </a:spcBef>
                        <a:spcAft>
                          <a:spcPts val="0"/>
                        </a:spcAft>
                      </a:pPr>
                      <a:r>
                        <a:rPr lang="en-US" sz="1100" dirty="0">
                          <a:effectLst/>
                        </a:rPr>
                        <a:t>1000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385445" marR="0" algn="just">
                        <a:lnSpc>
                          <a:spcPts val="1340"/>
                        </a:lnSpc>
                        <a:spcBef>
                          <a:spcPts val="5"/>
                        </a:spcBef>
                        <a:spcAft>
                          <a:spcPts val="0"/>
                        </a:spcAft>
                      </a:pPr>
                      <a:r>
                        <a:rPr lang="en-US" sz="1100">
                          <a:effectLst/>
                        </a:rPr>
                        <a:t>Water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1">
                        <a:lumMod val="40000"/>
                        <a:lumOff val="60000"/>
                      </a:schemeClr>
                    </a:solidFill>
                  </a:tcPr>
                </a:tc>
                <a:tc>
                  <a:txBody>
                    <a:bodyPr/>
                    <a:lstStyle/>
                    <a:p>
                      <a:pPr marL="199390" marR="349885" algn="just" defTabSz="914400" rtl="0" eaLnBrk="1" latinLnBrk="0" hangingPunct="1">
                        <a:lnSpc>
                          <a:spcPts val="1340"/>
                        </a:lnSpc>
                        <a:spcBef>
                          <a:spcPts val="5"/>
                        </a:spcBef>
                        <a:spcAft>
                          <a:spcPts val="0"/>
                        </a:spcAft>
                      </a:pPr>
                      <a:r>
                        <a:rPr lang="en-US" sz="1100" b="0" kern="1200" dirty="0">
                          <a:solidFill>
                            <a:schemeClr val="dk1"/>
                          </a:solidFill>
                          <a:effectLst/>
                          <a:latin typeface="+mn-lt"/>
                          <a:ea typeface="+mn-ea"/>
                          <a:cs typeface="+mn-cs"/>
                        </a:rPr>
                        <a:t>15</a:t>
                      </a:r>
                    </a:p>
                  </a:txBody>
                  <a:tcPr marL="0" marR="0" marT="0" marB="0">
                    <a:solidFill>
                      <a:schemeClr val="accent1">
                        <a:lumMod val="40000"/>
                        <a:lumOff val="60000"/>
                      </a:schemeClr>
                    </a:solidFill>
                  </a:tcPr>
                </a:tc>
                <a:extLst>
                  <a:ext uri="{0D108BD9-81ED-4DB2-BD59-A6C34878D82A}">
                    <a16:rowId xmlns:a16="http://schemas.microsoft.com/office/drawing/2014/main" val="3552010955"/>
                  </a:ext>
                </a:extLst>
              </a:tr>
              <a:tr h="397434">
                <a:tc>
                  <a:txBody>
                    <a:bodyPr/>
                    <a:lstStyle/>
                    <a:p>
                      <a:pPr marL="226695" marR="0" algn="just">
                        <a:lnSpc>
                          <a:spcPts val="1340"/>
                        </a:lnSpc>
                        <a:spcBef>
                          <a:spcPts val="0"/>
                        </a:spcBef>
                        <a:spcAft>
                          <a:spcPts val="0"/>
                        </a:spcAft>
                      </a:pPr>
                      <a:r>
                        <a:rPr lang="en-US" sz="1100" dirty="0">
                          <a:effectLst/>
                        </a:rPr>
                        <a:t>4</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rgbClr val="0070C0"/>
                    </a:solidFill>
                  </a:tcPr>
                </a:tc>
                <a:tc>
                  <a:txBody>
                    <a:bodyPr/>
                    <a:lstStyle/>
                    <a:p>
                      <a:pPr marL="199390" marR="349885" algn="just" defTabSz="914400" rtl="0" eaLnBrk="1" latinLnBrk="0" hangingPunct="1">
                        <a:lnSpc>
                          <a:spcPts val="1340"/>
                        </a:lnSpc>
                        <a:spcBef>
                          <a:spcPts val="5"/>
                        </a:spcBef>
                        <a:spcAft>
                          <a:spcPts val="0"/>
                        </a:spcAft>
                      </a:pPr>
                      <a:r>
                        <a:rPr lang="en-US" sz="1100" b="0" kern="1200" dirty="0">
                          <a:solidFill>
                            <a:schemeClr val="dk1"/>
                          </a:solidFill>
                          <a:effectLst/>
                          <a:latin typeface="+mn-lt"/>
                          <a:ea typeface="+mn-ea"/>
                          <a:cs typeface="+mn-cs"/>
                        </a:rPr>
                        <a:t>2000</a:t>
                      </a:r>
                    </a:p>
                  </a:txBody>
                  <a:tcPr marL="0" marR="0" marT="0" marB="0">
                    <a:solidFill>
                      <a:schemeClr val="accent1">
                        <a:lumMod val="40000"/>
                        <a:lumOff val="60000"/>
                      </a:schemeClr>
                    </a:solidFill>
                  </a:tcPr>
                </a:tc>
                <a:tc>
                  <a:txBody>
                    <a:bodyPr/>
                    <a:lstStyle/>
                    <a:p>
                      <a:pPr marL="199390" marR="349885" algn="just" defTabSz="914400" rtl="0" eaLnBrk="1" latinLnBrk="0" hangingPunct="1">
                        <a:lnSpc>
                          <a:spcPts val="1340"/>
                        </a:lnSpc>
                        <a:spcBef>
                          <a:spcPts val="5"/>
                        </a:spcBef>
                        <a:spcAft>
                          <a:spcPts val="0"/>
                        </a:spcAft>
                      </a:pPr>
                      <a:r>
                        <a:rPr lang="en-US" sz="1100" b="0" kern="1200" dirty="0">
                          <a:solidFill>
                            <a:schemeClr val="dk1"/>
                          </a:solidFill>
                          <a:effectLst/>
                          <a:latin typeface="+mn-lt"/>
                          <a:ea typeface="+mn-ea"/>
                          <a:cs typeface="+mn-cs"/>
                        </a:rPr>
                        <a:t>Water</a:t>
                      </a:r>
                    </a:p>
                  </a:txBody>
                  <a:tcPr marL="0" marR="0" marT="0" marB="0">
                    <a:solidFill>
                      <a:schemeClr val="accent1">
                        <a:lumMod val="40000"/>
                        <a:lumOff val="60000"/>
                      </a:schemeClr>
                    </a:solidFill>
                  </a:tcPr>
                </a:tc>
                <a:tc>
                  <a:txBody>
                    <a:bodyPr/>
                    <a:lstStyle/>
                    <a:p>
                      <a:pPr marL="199390" marR="349885" algn="just" defTabSz="914400" rtl="0" eaLnBrk="1" latinLnBrk="0" hangingPunct="1">
                        <a:lnSpc>
                          <a:spcPts val="1340"/>
                        </a:lnSpc>
                        <a:spcBef>
                          <a:spcPts val="5"/>
                        </a:spcBef>
                        <a:spcAft>
                          <a:spcPts val="0"/>
                        </a:spcAft>
                      </a:pPr>
                      <a:r>
                        <a:rPr lang="en-US" sz="1100" b="0" kern="1200" dirty="0">
                          <a:solidFill>
                            <a:schemeClr val="dk1"/>
                          </a:solidFill>
                          <a:effectLst/>
                          <a:latin typeface="+mn-lt"/>
                          <a:ea typeface="+mn-ea"/>
                          <a:cs typeface="+mn-cs"/>
                        </a:rPr>
                        <a:t>20</a:t>
                      </a:r>
                    </a:p>
                  </a:txBody>
                  <a:tcPr marL="0" marR="0" marT="0" marB="0">
                    <a:solidFill>
                      <a:schemeClr val="accent1">
                        <a:lumMod val="40000"/>
                        <a:lumOff val="60000"/>
                      </a:schemeClr>
                    </a:solidFill>
                  </a:tcPr>
                </a:tc>
                <a:extLst>
                  <a:ext uri="{0D108BD9-81ED-4DB2-BD59-A6C34878D82A}">
                    <a16:rowId xmlns:a16="http://schemas.microsoft.com/office/drawing/2014/main" val="1295227332"/>
                  </a:ext>
                </a:extLst>
              </a:tr>
            </a:tbl>
          </a:graphicData>
        </a:graphic>
      </p:graphicFrame>
    </p:spTree>
    <p:extLst>
      <p:ext uri="{BB962C8B-B14F-4D97-AF65-F5344CB8AC3E}">
        <p14:creationId xmlns:p14="http://schemas.microsoft.com/office/powerpoint/2010/main" val="3598938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3-D Profilometer</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6"/>
            <a:ext cx="6687315" cy="3567173"/>
          </a:xfrm>
        </p:spPr>
        <p:txBody>
          <a:bodyPr anchor="ct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3-D Optical profilometry utilizes light rather than a physical test. The significant thing segment to this methodology is coordinating the mellow in a way that it can unearth the surface in 3-D. Models incorporate optical obstructions, the use of a confocal gap, awareness and the fragment recognition, and anticipating an example onto the optical picture.</a:t>
            </a:r>
          </a:p>
          <a:p>
            <a:pPr marL="0" indent="0" algn="just">
              <a:buNone/>
            </a:pPr>
            <a:endParaRPr lang="en-US" sz="2400" dirty="0"/>
          </a:p>
        </p:txBody>
      </p:sp>
      <p:pic>
        <p:nvPicPr>
          <p:cNvPr id="11" name="Picture 10">
            <a:extLst>
              <a:ext uri="{FF2B5EF4-FFF2-40B4-BE49-F238E27FC236}">
                <a16:creationId xmlns:a16="http://schemas.microsoft.com/office/drawing/2014/main" id="{B79FC981-7B41-4B66-BEC7-CF854FA12C9A}"/>
              </a:ext>
            </a:extLst>
          </p:cNvPr>
          <p:cNvPicPr/>
          <p:nvPr/>
        </p:nvPicPr>
        <p:blipFill rotWithShape="1">
          <a:blip r:embed="rId2"/>
          <a:srcRect l="12827" t="14815" r="41515" b="4493"/>
          <a:stretch/>
        </p:blipFill>
        <p:spPr>
          <a:xfrm>
            <a:off x="8303241" y="2599024"/>
            <a:ext cx="2770280" cy="2943739"/>
          </a:xfrm>
          <a:prstGeom prst="rect">
            <a:avLst/>
          </a:prstGeom>
        </p:spPr>
      </p:pic>
    </p:spTree>
    <p:extLst>
      <p:ext uri="{BB962C8B-B14F-4D97-AF65-F5344CB8AC3E}">
        <p14:creationId xmlns:p14="http://schemas.microsoft.com/office/powerpoint/2010/main" val="2432981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Laser Surface Texturing</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6"/>
            <a:ext cx="5172075" cy="3567173"/>
          </a:xfrm>
        </p:spPr>
        <p:txBody>
          <a:bodyPr anchor="ctr">
            <a:normAutofit lnSpcReduction="10000"/>
          </a:bodyPr>
          <a:lstStyle/>
          <a:p>
            <a:pPr marL="0" indent="0" algn="just">
              <a:buNone/>
            </a:pPr>
            <a:r>
              <a:rPr lang="en-US" sz="2400" dirty="0">
                <a:effectLst/>
                <a:latin typeface="Times New Roman" panose="02020603050405020304" pitchFamily="18" charset="0"/>
                <a:ea typeface="Times New Roman" panose="02020603050405020304" pitchFamily="18" charset="0"/>
              </a:rPr>
              <a:t>LST was accomplished on the surface of Al-Si using a double frequency laser beam of 532µm wavelength. The Laser operation was done in the pulse mode using a pulse width of 2.5µs &amp; at 25KHz frequency. Laser beam uses an objective lens to focus the sample surface and a set of deflection mirrors to scan over the surface of the sample. Dimples were generated by the laser on the polished sample surface. </a:t>
            </a:r>
            <a:endParaRPr lang="en-US" sz="2400" dirty="0"/>
          </a:p>
        </p:txBody>
      </p:sp>
      <p:pic>
        <p:nvPicPr>
          <p:cNvPr id="11" name="image4.jpeg">
            <a:extLst>
              <a:ext uri="{FF2B5EF4-FFF2-40B4-BE49-F238E27FC236}">
                <a16:creationId xmlns:a16="http://schemas.microsoft.com/office/drawing/2014/main" id="{029BC78C-5453-49A3-8D1E-48B23D06BFCC}"/>
              </a:ext>
            </a:extLst>
          </p:cNvPr>
          <p:cNvPicPr/>
          <p:nvPr/>
        </p:nvPicPr>
        <p:blipFill>
          <a:blip r:embed="rId2" cstate="print"/>
          <a:stretch>
            <a:fillRect/>
          </a:stretch>
        </p:blipFill>
        <p:spPr>
          <a:xfrm>
            <a:off x="6669300" y="2613119"/>
            <a:ext cx="4553904" cy="2904103"/>
          </a:xfrm>
          <a:prstGeom prst="rect">
            <a:avLst/>
          </a:prstGeom>
        </p:spPr>
      </p:pic>
    </p:spTree>
    <p:extLst>
      <p:ext uri="{BB962C8B-B14F-4D97-AF65-F5344CB8AC3E}">
        <p14:creationId xmlns:p14="http://schemas.microsoft.com/office/powerpoint/2010/main" val="51465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26EE4FD-480F-42A5-9FEB-DA630457C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
            <a:extLst>
              <a:ext uri="{FF2B5EF4-FFF2-40B4-BE49-F238E27FC236}">
                <a16:creationId xmlns:a16="http://schemas.microsoft.com/office/drawing/2014/main" id="{A187062F-BE14-42FC-B06A-607DB238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8" y="1766812"/>
            <a:ext cx="822493"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
            <a:extLst>
              <a:ext uri="{FF2B5EF4-FFF2-40B4-BE49-F238E27FC236}">
                <a16:creationId xmlns:a16="http://schemas.microsoft.com/office/drawing/2014/main" id="{731FE21B-2A45-4BF5-8B03-E1234198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9" y="1423780"/>
            <a:ext cx="687754"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2DC5A94D-79ED-48F5-9DC5-96CBB507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3" y="1239381"/>
            <a:ext cx="3472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Rectangle 8">
            <a:extLst>
              <a:ext uri="{FF2B5EF4-FFF2-40B4-BE49-F238E27FC236}">
                <a16:creationId xmlns:a16="http://schemas.microsoft.com/office/drawing/2014/main" id="{93A3D4BE-AF25-4F9A-9C29-1145CCE2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2" y="1230651"/>
            <a:ext cx="10208658"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715C716B-53D4-4A75-B7C6-8A92C261130A}"/>
              </a:ext>
            </a:extLst>
          </p:cNvPr>
          <p:cNvSpPr>
            <a:spLocks noGrp="1"/>
          </p:cNvSpPr>
          <p:nvPr>
            <p:ph type="ctrTitle"/>
          </p:nvPr>
        </p:nvSpPr>
        <p:spPr>
          <a:xfrm>
            <a:off x="1870997" y="1607809"/>
            <a:ext cx="9236026" cy="2876680"/>
          </a:xfrm>
        </p:spPr>
        <p:txBody>
          <a:bodyPr anchor="b">
            <a:normAutofit/>
          </a:bodyPr>
          <a:lstStyle/>
          <a:p>
            <a:pPr algn="l"/>
            <a:r>
              <a:rPr lang="en-US" sz="8000" b="1" dirty="0">
                <a:solidFill>
                  <a:srgbClr val="FFFFFF"/>
                </a:solidFill>
              </a:rPr>
              <a:t>Results</a:t>
            </a:r>
          </a:p>
        </p:txBody>
      </p:sp>
    </p:spTree>
    <p:extLst>
      <p:ext uri="{BB962C8B-B14F-4D97-AF65-F5344CB8AC3E}">
        <p14:creationId xmlns:p14="http://schemas.microsoft.com/office/powerpoint/2010/main" val="3838476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Surface Roughness</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5" y="3117851"/>
            <a:ext cx="6327720" cy="2939758"/>
          </a:xfrm>
        </p:spPr>
        <p:txBody>
          <a:bodyPr anchor="ctr">
            <a:normAutofit fontScale="92500"/>
          </a:bodyPr>
          <a:lstStyle/>
          <a:p>
            <a:pPr marL="0" marR="0" indent="0" algn="just">
              <a:lnSpc>
                <a:spcPct val="115000"/>
              </a:lnSpc>
              <a:spcBef>
                <a:spcPts val="315"/>
              </a:spcBef>
              <a:spcAft>
                <a:spcPts val="0"/>
              </a:spcAft>
              <a:buNone/>
            </a:pPr>
            <a:r>
              <a:rPr lang="en-US" sz="2400" b="0" dirty="0">
                <a:effectLst/>
                <a:latin typeface="Times New Roman" panose="02020603050405020304" pitchFamily="18" charset="0"/>
                <a:ea typeface="Times New Roman" panose="02020603050405020304" pitchFamily="18" charset="0"/>
              </a:rPr>
              <a:t>Surface roughness, often shortened to roughness, is a component of surface texture It is quantified by the deviations in the direction of the normal vector of a real surface from its ideal form. If these deviations are large, the surface is rough; if they are small, the surface is smooth. Fig 1 shows the 3D roughness image of the Al-Si alloy after polishing.</a:t>
            </a:r>
          </a:p>
          <a:p>
            <a:pPr marL="0" marR="0" indent="0" algn="just">
              <a:lnSpc>
                <a:spcPct val="115000"/>
              </a:lnSpc>
              <a:spcBef>
                <a:spcPts val="315"/>
              </a:spcBef>
              <a:spcAft>
                <a:spcPts val="0"/>
              </a:spcAft>
              <a:buNone/>
            </a:pPr>
            <a:endParaRPr lang="en-US" sz="3200" b="1" dirty="0">
              <a:effectLst/>
              <a:latin typeface="Times New Roman" panose="02020603050405020304" pitchFamily="18" charset="0"/>
              <a:ea typeface="Times New Roman" panose="02020603050405020304" pitchFamily="18" charset="0"/>
            </a:endParaRPr>
          </a:p>
          <a:p>
            <a:pPr marL="0" indent="0" algn="just">
              <a:buNone/>
            </a:pPr>
            <a:endParaRPr lang="en-US" sz="2400" dirty="0"/>
          </a:p>
        </p:txBody>
      </p:sp>
      <p:pic>
        <p:nvPicPr>
          <p:cNvPr id="11" name="Picture 10">
            <a:extLst>
              <a:ext uri="{FF2B5EF4-FFF2-40B4-BE49-F238E27FC236}">
                <a16:creationId xmlns:a16="http://schemas.microsoft.com/office/drawing/2014/main" id="{24ED709E-33C8-4C11-B79A-790E15A10D37}"/>
              </a:ext>
            </a:extLst>
          </p:cNvPr>
          <p:cNvPicPr/>
          <p:nvPr/>
        </p:nvPicPr>
        <p:blipFill rotWithShape="1">
          <a:blip r:embed="rId2"/>
          <a:srcRect l="5367"/>
          <a:stretch/>
        </p:blipFill>
        <p:spPr>
          <a:xfrm>
            <a:off x="7956901" y="2424588"/>
            <a:ext cx="3825389" cy="3175762"/>
          </a:xfrm>
          <a:prstGeom prst="rect">
            <a:avLst/>
          </a:prstGeom>
        </p:spPr>
      </p:pic>
    </p:spTree>
    <p:extLst>
      <p:ext uri="{BB962C8B-B14F-4D97-AF65-F5344CB8AC3E}">
        <p14:creationId xmlns:p14="http://schemas.microsoft.com/office/powerpoint/2010/main" val="609015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Laser Texturing (Square)</a:t>
            </a:r>
          </a:p>
        </p:txBody>
      </p:sp>
      <p:pic>
        <p:nvPicPr>
          <p:cNvPr id="11" name="Content Placeholder 10">
            <a:extLst>
              <a:ext uri="{FF2B5EF4-FFF2-40B4-BE49-F238E27FC236}">
                <a16:creationId xmlns:a16="http://schemas.microsoft.com/office/drawing/2014/main" id="{CEE1DD98-B0FB-4524-B8DD-5758E44FDA2E}"/>
              </a:ext>
            </a:extLst>
          </p:cNvPr>
          <p:cNvPicPr>
            <a:picLocks noGrp="1"/>
          </p:cNvPicPr>
          <p:nvPr>
            <p:ph idx="1"/>
          </p:nvPr>
        </p:nvPicPr>
        <p:blipFill rotWithShape="1">
          <a:blip r:embed="rId2"/>
          <a:srcRect l="8499" b="3419"/>
          <a:stretch/>
        </p:blipFill>
        <p:spPr>
          <a:xfrm>
            <a:off x="240632" y="2958243"/>
            <a:ext cx="5410141" cy="3445171"/>
          </a:xfrm>
          <a:prstGeom prst="rect">
            <a:avLst/>
          </a:prstGeom>
        </p:spPr>
      </p:pic>
      <p:pic>
        <p:nvPicPr>
          <p:cNvPr id="13" name="Picture 12">
            <a:extLst>
              <a:ext uri="{FF2B5EF4-FFF2-40B4-BE49-F238E27FC236}">
                <a16:creationId xmlns:a16="http://schemas.microsoft.com/office/drawing/2014/main" id="{145F57E0-41A7-4EFA-9035-04223E4B97B9}"/>
              </a:ext>
            </a:extLst>
          </p:cNvPr>
          <p:cNvPicPr/>
          <p:nvPr/>
        </p:nvPicPr>
        <p:blipFill rotWithShape="1">
          <a:blip r:embed="rId3"/>
          <a:srcRect l="2015" b="3052"/>
          <a:stretch/>
        </p:blipFill>
        <p:spPr bwMode="auto">
          <a:xfrm>
            <a:off x="5899325" y="2958243"/>
            <a:ext cx="5522653" cy="3445171"/>
          </a:xfrm>
          <a:prstGeom prst="rect">
            <a:avLst/>
          </a:prstGeom>
          <a:noFill/>
          <a:ln w="9525">
            <a:noFill/>
            <a:miter lim="800000"/>
            <a:headEnd/>
            <a:tailEnd/>
          </a:ln>
        </p:spPr>
      </p:pic>
    </p:spTree>
    <p:extLst>
      <p:ext uri="{BB962C8B-B14F-4D97-AF65-F5344CB8AC3E}">
        <p14:creationId xmlns:p14="http://schemas.microsoft.com/office/powerpoint/2010/main" val="3686055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Laser Texturing (Circular)</a:t>
            </a:r>
          </a:p>
        </p:txBody>
      </p:sp>
      <p:pic>
        <p:nvPicPr>
          <p:cNvPr id="15" name="Content Placeholder 14">
            <a:extLst>
              <a:ext uri="{FF2B5EF4-FFF2-40B4-BE49-F238E27FC236}">
                <a16:creationId xmlns:a16="http://schemas.microsoft.com/office/drawing/2014/main" id="{B95449CA-8424-4141-BA0C-3D3CF3CB4C07}"/>
              </a:ext>
            </a:extLst>
          </p:cNvPr>
          <p:cNvPicPr>
            <a:picLocks noGrp="1"/>
          </p:cNvPicPr>
          <p:nvPr>
            <p:ph idx="1"/>
          </p:nvPr>
        </p:nvPicPr>
        <p:blipFill rotWithShape="1">
          <a:blip r:embed="rId2"/>
          <a:srcRect l="18179" b="14"/>
          <a:stretch/>
        </p:blipFill>
        <p:spPr>
          <a:xfrm>
            <a:off x="0" y="2272925"/>
            <a:ext cx="6532187" cy="4815807"/>
          </a:xfrm>
          <a:prstGeom prst="rect">
            <a:avLst/>
          </a:prstGeom>
        </p:spPr>
      </p:pic>
      <p:pic>
        <p:nvPicPr>
          <p:cNvPr id="17" name="Picture 16">
            <a:extLst>
              <a:ext uri="{FF2B5EF4-FFF2-40B4-BE49-F238E27FC236}">
                <a16:creationId xmlns:a16="http://schemas.microsoft.com/office/drawing/2014/main" id="{E0079424-2FD4-42EE-8D36-EBCBBD7EFD20}"/>
              </a:ext>
            </a:extLst>
          </p:cNvPr>
          <p:cNvPicPr/>
          <p:nvPr/>
        </p:nvPicPr>
        <p:blipFill>
          <a:blip r:embed="rId3"/>
          <a:srcRect/>
          <a:stretch>
            <a:fillRect/>
          </a:stretch>
        </p:blipFill>
        <p:spPr bwMode="auto">
          <a:xfrm>
            <a:off x="6657654" y="3117851"/>
            <a:ext cx="4740049" cy="2588249"/>
          </a:xfrm>
          <a:prstGeom prst="rect">
            <a:avLst/>
          </a:prstGeom>
          <a:noFill/>
          <a:ln w="9525">
            <a:noFill/>
            <a:miter lim="800000"/>
            <a:headEnd/>
            <a:tailEnd/>
          </a:ln>
        </p:spPr>
      </p:pic>
    </p:spTree>
    <p:extLst>
      <p:ext uri="{BB962C8B-B14F-4D97-AF65-F5344CB8AC3E}">
        <p14:creationId xmlns:p14="http://schemas.microsoft.com/office/powerpoint/2010/main" val="2939873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26EE4FD-480F-42A5-9FEB-DA630457C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5">
            <a:extLst>
              <a:ext uri="{FF2B5EF4-FFF2-40B4-BE49-F238E27FC236}">
                <a16:creationId xmlns:a16="http://schemas.microsoft.com/office/drawing/2014/main" id="{A187062F-BE14-42FC-B06A-607DB2384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8" y="1766812"/>
            <a:ext cx="822493"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
            <a:extLst>
              <a:ext uri="{FF2B5EF4-FFF2-40B4-BE49-F238E27FC236}">
                <a16:creationId xmlns:a16="http://schemas.microsoft.com/office/drawing/2014/main" id="{731FE21B-2A45-4BF5-8B03-E12341988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42689" y="1423780"/>
            <a:ext cx="687754"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2DC5A94D-79ED-48F5-9DC5-96CBB507CE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3" y="1239381"/>
            <a:ext cx="3472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Rectangle 8">
            <a:extLst>
              <a:ext uri="{FF2B5EF4-FFF2-40B4-BE49-F238E27FC236}">
                <a16:creationId xmlns:a16="http://schemas.microsoft.com/office/drawing/2014/main" id="{93A3D4BE-AF25-4F9A-9C29-1145CCE24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183242" y="1230651"/>
            <a:ext cx="10208658"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715C716B-53D4-4A75-B7C6-8A92C261130A}"/>
              </a:ext>
            </a:extLst>
          </p:cNvPr>
          <p:cNvSpPr>
            <a:spLocks noGrp="1"/>
          </p:cNvSpPr>
          <p:nvPr>
            <p:ph type="ctrTitle"/>
          </p:nvPr>
        </p:nvSpPr>
        <p:spPr>
          <a:xfrm>
            <a:off x="1870997" y="1607809"/>
            <a:ext cx="9236026" cy="2876680"/>
          </a:xfrm>
        </p:spPr>
        <p:txBody>
          <a:bodyPr anchor="b">
            <a:normAutofit/>
          </a:bodyPr>
          <a:lstStyle/>
          <a:p>
            <a:pPr algn="l"/>
            <a:r>
              <a:rPr lang="en-US" sz="8000" b="1" dirty="0">
                <a:solidFill>
                  <a:srgbClr val="FFFFFF"/>
                </a:solidFill>
              </a:rPr>
              <a:t>Tribological Tests</a:t>
            </a:r>
          </a:p>
        </p:txBody>
      </p:sp>
    </p:spTree>
    <p:extLst>
      <p:ext uri="{BB962C8B-B14F-4D97-AF65-F5344CB8AC3E}">
        <p14:creationId xmlns:p14="http://schemas.microsoft.com/office/powerpoint/2010/main" val="229623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Coefficient of Friction</a:t>
            </a:r>
          </a:p>
        </p:txBody>
      </p:sp>
      <p:sp>
        <p:nvSpPr>
          <p:cNvPr id="3" name="Content Placeholder 2">
            <a:extLst>
              <a:ext uri="{FF2B5EF4-FFF2-40B4-BE49-F238E27FC236}">
                <a16:creationId xmlns:a16="http://schemas.microsoft.com/office/drawing/2014/main" id="{501AA784-A54B-4CFC-A112-2FD151887CE6}"/>
              </a:ext>
            </a:extLst>
          </p:cNvPr>
          <p:cNvSpPr>
            <a:spLocks noGrp="1"/>
          </p:cNvSpPr>
          <p:nvPr>
            <p:ph idx="1"/>
          </p:nvPr>
        </p:nvSpPr>
        <p:spPr>
          <a:xfrm>
            <a:off x="1367624" y="2490436"/>
            <a:ext cx="4848241" cy="3567173"/>
          </a:xfrm>
        </p:spPr>
        <p:txBody>
          <a:bodyPr anchor="ctr">
            <a:normAutofit/>
          </a:bodyPr>
          <a:lstStyle/>
          <a:p>
            <a:pPr marL="0" indent="0" algn="just">
              <a:buNone/>
            </a:pPr>
            <a:r>
              <a:rPr lang="en-US" sz="1800" b="0" dirty="0">
                <a:solidFill>
                  <a:srgbClr val="202124"/>
                </a:solidFill>
                <a:effectLst/>
                <a:latin typeface="Times New Roman" panose="02020603050405020304" pitchFamily="18" charset="0"/>
                <a:ea typeface="Times New Roman" panose="02020603050405020304" pitchFamily="18" charset="0"/>
              </a:rPr>
              <a:t>Coefficient of friction is the ratio of the frictional force resisting the motion of two surfaces in contact to the normal force pressing the two surfaces together. It is usually symbolized by the Greek letter mu (μ). Mathematically, μ = F/N, where F is the frictional force and N is the normal force.</a:t>
            </a:r>
            <a:endParaRPr lang="en-US" sz="1800" b="1" dirty="0">
              <a:effectLst/>
              <a:latin typeface="Times New Roman" panose="02020603050405020304" pitchFamily="18" charset="0"/>
              <a:ea typeface="Times New Roman" panose="02020603050405020304" pitchFamily="18" charset="0"/>
            </a:endParaRPr>
          </a:p>
          <a:p>
            <a:pPr marL="0" indent="0" algn="just">
              <a:buNone/>
            </a:pPr>
            <a:endParaRPr lang="en-US" sz="2400" dirty="0"/>
          </a:p>
        </p:txBody>
      </p:sp>
      <p:pic>
        <p:nvPicPr>
          <p:cNvPr id="36" name="Picture 35">
            <a:extLst>
              <a:ext uri="{FF2B5EF4-FFF2-40B4-BE49-F238E27FC236}">
                <a16:creationId xmlns:a16="http://schemas.microsoft.com/office/drawing/2014/main" id="{FD49B3BC-1474-4BF6-9E90-2FC64572C2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34168" y="2724554"/>
            <a:ext cx="4584589" cy="2755631"/>
          </a:xfrm>
          <a:prstGeom prst="rect">
            <a:avLst/>
          </a:prstGeom>
        </p:spPr>
      </p:pic>
    </p:spTree>
    <p:extLst>
      <p:ext uri="{BB962C8B-B14F-4D97-AF65-F5344CB8AC3E}">
        <p14:creationId xmlns:p14="http://schemas.microsoft.com/office/powerpoint/2010/main" val="3782805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Mathematical Analysis of Wear Rate (Circular)</a:t>
            </a:r>
          </a:p>
        </p:txBody>
      </p:sp>
      <p:sp>
        <p:nvSpPr>
          <p:cNvPr id="4" name="Content Placeholder 3">
            <a:extLst>
              <a:ext uri="{FF2B5EF4-FFF2-40B4-BE49-F238E27FC236}">
                <a16:creationId xmlns:a16="http://schemas.microsoft.com/office/drawing/2014/main" id="{725C79FB-8279-4C11-A10A-FC2FE7354601}"/>
              </a:ext>
            </a:extLst>
          </p:cNvPr>
          <p:cNvSpPr>
            <a:spLocks noGrp="1"/>
          </p:cNvSpPr>
          <p:nvPr>
            <p:ph idx="1"/>
          </p:nvPr>
        </p:nvSpPr>
        <p:spPr>
          <a:xfrm>
            <a:off x="1047280" y="2812886"/>
            <a:ext cx="10315938" cy="3652081"/>
          </a:xfrm>
        </p:spPr>
        <p:txBody>
          <a:bodyPr>
            <a:normAutofit/>
          </a:bodyPr>
          <a:lstStyle/>
          <a:p>
            <a:pPr marL="0" marR="0" indent="0" algn="just">
              <a:lnSpc>
                <a:spcPct val="115000"/>
              </a:lnSpc>
              <a:spcBef>
                <a:spcPts val="315"/>
              </a:spcBef>
              <a:spcAft>
                <a:spcPts val="0"/>
              </a:spcAft>
              <a:buNone/>
            </a:pPr>
            <a:r>
              <a:rPr lang="en-US" sz="1800" b="1" dirty="0">
                <a:effectLst/>
                <a:latin typeface="Times New Roman" panose="02020603050405020304" pitchFamily="18" charset="0"/>
                <a:ea typeface="Times New Roman" panose="02020603050405020304" pitchFamily="18" charset="0"/>
              </a:rPr>
              <a:t>Wear Volume</a:t>
            </a: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latin typeface="Times New Roman" panose="02020603050405020304" pitchFamily="18" charset="0"/>
                <a:ea typeface="Times New Roman" panose="02020603050405020304" pitchFamily="18" charset="0"/>
              </a:rPr>
              <a:t>2</a:t>
            </a:r>
            <a:r>
              <a:rPr lang="en-US" sz="1800" b="1" dirty="0">
                <a:effectLst/>
                <a:latin typeface="Times New Roman" panose="02020603050405020304" pitchFamily="18" charset="0"/>
                <a:ea typeface="Times New Roman" panose="02020603050405020304" pitchFamily="18" charset="0"/>
              </a:rPr>
              <a:t> 90 = 2.251374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endParaRPr lang="en-US" sz="1800" b="1" dirty="0">
              <a:effectLst/>
              <a:latin typeface="Times New Roman" panose="02020603050405020304" pitchFamily="18" charset="0"/>
              <a:ea typeface="Times New Roman" panose="02020603050405020304" pitchFamily="18" charset="0"/>
            </a:endParaRP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latin typeface="Times New Roman" panose="02020603050405020304" pitchFamily="18" charset="0"/>
                <a:ea typeface="Times New Roman" panose="02020603050405020304" pitchFamily="18" charset="0"/>
              </a:rPr>
              <a:t>2</a:t>
            </a:r>
            <a:r>
              <a:rPr lang="en-US" sz="1800" b="1" dirty="0">
                <a:effectLst/>
                <a:latin typeface="Times New Roman" panose="02020603050405020304" pitchFamily="18" charset="0"/>
                <a:ea typeface="Times New Roman" panose="02020603050405020304" pitchFamily="18" charset="0"/>
              </a:rPr>
              <a:t> 180 = 2.161120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endParaRPr lang="en-US" sz="1800" b="1" dirty="0">
              <a:effectLst/>
              <a:latin typeface="Times New Roman" panose="02020603050405020304" pitchFamily="18" charset="0"/>
              <a:ea typeface="Times New Roman" panose="02020603050405020304" pitchFamily="18" charset="0"/>
            </a:endParaRP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latin typeface="Times New Roman" panose="02020603050405020304" pitchFamily="18" charset="0"/>
                <a:ea typeface="Times New Roman" panose="02020603050405020304" pitchFamily="18" charset="0"/>
              </a:rPr>
              <a:t>2</a:t>
            </a:r>
            <a:r>
              <a:rPr lang="en-US" sz="1800" b="1" dirty="0">
                <a:effectLst/>
                <a:latin typeface="Times New Roman" panose="02020603050405020304" pitchFamily="18" charset="0"/>
                <a:ea typeface="Times New Roman" panose="02020603050405020304" pitchFamily="18" charset="0"/>
              </a:rPr>
              <a:t> 270 = 1.959747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endParaRPr lang="en-US" sz="1800" b="1" dirty="0">
              <a:effectLst/>
              <a:latin typeface="Times New Roman" panose="02020603050405020304" pitchFamily="18" charset="0"/>
              <a:ea typeface="Times New Roman" panose="02020603050405020304" pitchFamily="18" charset="0"/>
            </a:endParaRPr>
          </a:p>
          <a:p>
            <a:pPr marL="0" marR="0" indent="0" algn="just">
              <a:lnSpc>
                <a:spcPct val="115000"/>
              </a:lnSpc>
              <a:spcBef>
                <a:spcPts val="315"/>
              </a:spcBef>
              <a:spcAft>
                <a:spcPts val="0"/>
              </a:spcAft>
              <a:buNone/>
            </a:pPr>
            <a:r>
              <a:rPr lang="en-US" sz="1800" b="1" dirty="0">
                <a:latin typeface="Times New Roman" panose="02020603050405020304" pitchFamily="18" charset="0"/>
                <a:ea typeface="Times New Roman" panose="02020603050405020304" pitchFamily="18" charset="0"/>
              </a:rPr>
              <a:t>Wear Rate</a:t>
            </a:r>
            <a:endParaRPr lang="en-US" sz="1800" b="1" dirty="0">
              <a:effectLst/>
              <a:latin typeface="Times New Roman" panose="02020603050405020304" pitchFamily="18" charset="0"/>
              <a:ea typeface="Times New Roman" panose="02020603050405020304" pitchFamily="18" charset="0"/>
            </a:endParaRP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latin typeface="Times New Roman" panose="02020603050405020304" pitchFamily="18" charset="0"/>
                <a:ea typeface="Times New Roman" panose="02020603050405020304" pitchFamily="18" charset="0"/>
              </a:rPr>
              <a:t>2</a:t>
            </a:r>
            <a:r>
              <a:rPr lang="en-US" sz="1800" b="1" dirty="0">
                <a:effectLst/>
                <a:latin typeface="Times New Roman" panose="02020603050405020304" pitchFamily="18" charset="0"/>
                <a:ea typeface="Times New Roman" panose="02020603050405020304" pitchFamily="18" charset="0"/>
              </a:rPr>
              <a:t> 90 = 2.251374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5 x 90 = 5.003 x 10</a:t>
            </a:r>
            <a:r>
              <a:rPr lang="en-US" sz="1800" b="1" baseline="30000" dirty="0">
                <a:effectLst/>
                <a:latin typeface="Times New Roman" panose="02020603050405020304" pitchFamily="18" charset="0"/>
                <a:ea typeface="Times New Roman" panose="02020603050405020304" pitchFamily="18" charset="0"/>
              </a:rPr>
              <a:t>-4 </a:t>
            </a:r>
            <a:r>
              <a:rPr lang="en-US" sz="1800" b="1" dirty="0">
                <a:effectLst/>
                <a:latin typeface="Times New Roman" panose="02020603050405020304" pitchFamily="18" charset="0"/>
                <a:ea typeface="Times New Roman" panose="02020603050405020304" pitchFamily="18" charset="0"/>
              </a:rPr>
              <a:t>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/Nm</a:t>
            </a: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latin typeface="Times New Roman" panose="02020603050405020304" pitchFamily="18" charset="0"/>
                <a:ea typeface="Times New Roman" panose="02020603050405020304" pitchFamily="18" charset="0"/>
              </a:rPr>
              <a:t>2</a:t>
            </a:r>
            <a:r>
              <a:rPr lang="en-US" sz="1800" b="1" dirty="0">
                <a:effectLst/>
                <a:latin typeface="Times New Roman" panose="02020603050405020304" pitchFamily="18" charset="0"/>
                <a:ea typeface="Times New Roman" panose="02020603050405020304" pitchFamily="18" charset="0"/>
              </a:rPr>
              <a:t> 180 = 2.161120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/5 x 180 = 2.401 x 10</a:t>
            </a:r>
            <a:r>
              <a:rPr lang="en-US" sz="1800" b="1" baseline="30000" dirty="0">
                <a:effectLst/>
                <a:latin typeface="Times New Roman" panose="02020603050405020304" pitchFamily="18" charset="0"/>
                <a:ea typeface="Times New Roman" panose="02020603050405020304" pitchFamily="18" charset="0"/>
              </a:rPr>
              <a:t>-4 </a:t>
            </a:r>
            <a:r>
              <a:rPr lang="en-US" sz="1800" b="1" dirty="0">
                <a:effectLst/>
                <a:latin typeface="Times New Roman" panose="02020603050405020304" pitchFamily="18" charset="0"/>
                <a:ea typeface="Times New Roman" panose="02020603050405020304" pitchFamily="18" charset="0"/>
              </a:rPr>
              <a:t>mm </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Nm</a:t>
            </a: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latin typeface="Times New Roman" panose="02020603050405020304" pitchFamily="18" charset="0"/>
                <a:ea typeface="Times New Roman" panose="02020603050405020304" pitchFamily="18" charset="0"/>
              </a:rPr>
              <a:t>2</a:t>
            </a:r>
            <a:r>
              <a:rPr lang="en-US" sz="1800" b="1" dirty="0">
                <a:effectLst/>
                <a:latin typeface="Times New Roman" panose="02020603050405020304" pitchFamily="18" charset="0"/>
                <a:ea typeface="Times New Roman" panose="02020603050405020304" pitchFamily="18" charset="0"/>
              </a:rPr>
              <a:t> 270 = 1.959747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5 x 270 = 0.132 x 10</a:t>
            </a:r>
            <a:r>
              <a:rPr lang="en-US" sz="1800" b="1" baseline="30000" dirty="0">
                <a:effectLst/>
                <a:latin typeface="Times New Roman" panose="02020603050405020304" pitchFamily="18" charset="0"/>
                <a:ea typeface="Times New Roman" panose="02020603050405020304" pitchFamily="18" charset="0"/>
              </a:rPr>
              <a:t>-4</a:t>
            </a:r>
            <a:r>
              <a:rPr lang="en-US" sz="1800" b="1" dirty="0">
                <a:effectLst/>
                <a:latin typeface="Times New Roman" panose="02020603050405020304" pitchFamily="18" charset="0"/>
                <a:ea typeface="Times New Roman" panose="02020603050405020304" pitchFamily="18" charset="0"/>
              </a:rPr>
              <a:t> mm </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Nm</a:t>
            </a:r>
          </a:p>
          <a:p>
            <a:pPr marL="0" indent="0" algn="just">
              <a:buNone/>
            </a:pPr>
            <a:endParaRPr lang="en-US" dirty="0"/>
          </a:p>
        </p:txBody>
      </p:sp>
    </p:spTree>
    <p:extLst>
      <p:ext uri="{BB962C8B-B14F-4D97-AF65-F5344CB8AC3E}">
        <p14:creationId xmlns:p14="http://schemas.microsoft.com/office/powerpoint/2010/main" val="1649410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Mathematical Analysis of Wear Rate (Square)</a:t>
            </a:r>
          </a:p>
        </p:txBody>
      </p:sp>
      <p:sp>
        <p:nvSpPr>
          <p:cNvPr id="4" name="Content Placeholder 3">
            <a:extLst>
              <a:ext uri="{FF2B5EF4-FFF2-40B4-BE49-F238E27FC236}">
                <a16:creationId xmlns:a16="http://schemas.microsoft.com/office/drawing/2014/main" id="{725C79FB-8279-4C11-A10A-FC2FE7354601}"/>
              </a:ext>
            </a:extLst>
          </p:cNvPr>
          <p:cNvSpPr>
            <a:spLocks noGrp="1"/>
          </p:cNvSpPr>
          <p:nvPr>
            <p:ph idx="1"/>
          </p:nvPr>
        </p:nvSpPr>
        <p:spPr>
          <a:xfrm>
            <a:off x="1047280" y="2812886"/>
            <a:ext cx="10315938" cy="3652081"/>
          </a:xfrm>
        </p:spPr>
        <p:txBody>
          <a:bodyPr>
            <a:normAutofit/>
          </a:bodyPr>
          <a:lstStyle/>
          <a:p>
            <a:pPr marL="0" marR="0" indent="0" algn="just">
              <a:lnSpc>
                <a:spcPct val="115000"/>
              </a:lnSpc>
              <a:spcBef>
                <a:spcPts val="315"/>
              </a:spcBef>
              <a:spcAft>
                <a:spcPts val="0"/>
              </a:spcAft>
              <a:buNone/>
            </a:pPr>
            <a:r>
              <a:rPr lang="en-US" sz="1800" b="1" dirty="0">
                <a:effectLst/>
                <a:latin typeface="Times New Roman" panose="02020603050405020304" pitchFamily="18" charset="0"/>
                <a:ea typeface="Times New Roman" panose="02020603050405020304" pitchFamily="18" charset="0"/>
              </a:rPr>
              <a:t>Wear Volume</a:t>
            </a: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90 = 2.363765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endParaRPr lang="en-US" sz="1800" b="1" dirty="0">
              <a:effectLst/>
              <a:latin typeface="Times New Roman" panose="02020603050405020304" pitchFamily="18" charset="0"/>
              <a:ea typeface="Times New Roman" panose="02020603050405020304" pitchFamily="18" charset="0"/>
            </a:endParaRP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180 = 2.332437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endParaRPr lang="en-US" sz="1800" b="1" dirty="0">
              <a:effectLst/>
              <a:latin typeface="Times New Roman" panose="02020603050405020304" pitchFamily="18" charset="0"/>
              <a:ea typeface="Times New Roman" panose="02020603050405020304" pitchFamily="18" charset="0"/>
            </a:endParaRP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270 = </a:t>
            </a:r>
            <a:r>
              <a:rPr lang="en-US" sz="1800" b="1" dirty="0">
                <a:latin typeface="Times New Roman" panose="02020603050405020304" pitchFamily="18" charset="0"/>
                <a:ea typeface="Times New Roman" panose="02020603050405020304" pitchFamily="18" charset="0"/>
              </a:rPr>
              <a:t>2.266151</a:t>
            </a:r>
            <a:r>
              <a:rPr lang="en-US" sz="1800" b="1" dirty="0">
                <a:effectLst/>
                <a:latin typeface="Times New Roman" panose="02020603050405020304" pitchFamily="18" charset="0"/>
                <a:ea typeface="Times New Roman" panose="02020603050405020304" pitchFamily="18" charset="0"/>
              </a:rPr>
              <a:t>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endParaRPr lang="en-US" sz="1800" b="1" dirty="0">
              <a:effectLst/>
              <a:latin typeface="Times New Roman" panose="02020603050405020304" pitchFamily="18" charset="0"/>
              <a:ea typeface="Times New Roman" panose="02020603050405020304" pitchFamily="18" charset="0"/>
            </a:endParaRPr>
          </a:p>
          <a:p>
            <a:pPr marL="0" marR="0" indent="0" algn="just">
              <a:lnSpc>
                <a:spcPct val="115000"/>
              </a:lnSpc>
              <a:spcBef>
                <a:spcPts val="315"/>
              </a:spcBef>
              <a:spcAft>
                <a:spcPts val="0"/>
              </a:spcAft>
              <a:buNone/>
            </a:pPr>
            <a:r>
              <a:rPr lang="en-US" sz="1800" b="1" dirty="0">
                <a:latin typeface="Times New Roman" panose="02020603050405020304" pitchFamily="18" charset="0"/>
                <a:ea typeface="Times New Roman" panose="02020603050405020304" pitchFamily="18" charset="0"/>
              </a:rPr>
              <a:t>Wear Rate</a:t>
            </a:r>
            <a:endParaRPr lang="en-US" sz="1800" b="1" dirty="0">
              <a:effectLst/>
              <a:latin typeface="Times New Roman" panose="02020603050405020304" pitchFamily="18" charset="0"/>
              <a:ea typeface="Times New Roman" panose="02020603050405020304" pitchFamily="18" charset="0"/>
            </a:endParaRP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90 = 2.363765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5 x 90 = 5.253 x 10</a:t>
            </a:r>
            <a:r>
              <a:rPr lang="en-US" sz="1800" b="1" baseline="30000" dirty="0">
                <a:effectLst/>
                <a:latin typeface="Times New Roman" panose="02020603050405020304" pitchFamily="18" charset="0"/>
                <a:ea typeface="Times New Roman" panose="02020603050405020304" pitchFamily="18" charset="0"/>
              </a:rPr>
              <a:t>-4 </a:t>
            </a:r>
            <a:r>
              <a:rPr lang="en-US" sz="1800" b="1" dirty="0">
                <a:effectLst/>
                <a:latin typeface="Times New Roman" panose="02020603050405020304" pitchFamily="18" charset="0"/>
                <a:ea typeface="Times New Roman" panose="02020603050405020304" pitchFamily="18" charset="0"/>
              </a:rPr>
              <a:t>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/Nm</a:t>
            </a: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180 = 2.332437 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/5 x 180 = 2.592 x 10</a:t>
            </a:r>
            <a:r>
              <a:rPr lang="en-US" sz="1800" b="1" baseline="30000" dirty="0">
                <a:effectLst/>
                <a:latin typeface="Times New Roman" panose="02020603050405020304" pitchFamily="18" charset="0"/>
                <a:ea typeface="Times New Roman" panose="02020603050405020304" pitchFamily="18" charset="0"/>
              </a:rPr>
              <a:t>-4 </a:t>
            </a:r>
            <a:r>
              <a:rPr lang="en-US" sz="1800" b="1" dirty="0">
                <a:effectLst/>
                <a:latin typeface="Times New Roman" panose="02020603050405020304" pitchFamily="18" charset="0"/>
                <a:ea typeface="Times New Roman" panose="02020603050405020304" pitchFamily="18" charset="0"/>
              </a:rPr>
              <a:t>mm </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Nm</a:t>
            </a:r>
          </a:p>
          <a:p>
            <a:pPr marL="228600" marR="0" algn="just">
              <a:lnSpc>
                <a:spcPct val="115000"/>
              </a:lnSpc>
              <a:spcBef>
                <a:spcPts val="315"/>
              </a:spcBef>
              <a:spcAft>
                <a:spcPts val="0"/>
              </a:spcAft>
            </a:pPr>
            <a:r>
              <a:rPr lang="en-US" sz="1800" b="1" dirty="0">
                <a:effectLst/>
                <a:latin typeface="Times New Roman" panose="02020603050405020304" pitchFamily="18" charset="0"/>
                <a:ea typeface="Times New Roman" panose="02020603050405020304" pitchFamily="18" charset="0"/>
              </a:rPr>
              <a:t>S</a:t>
            </a:r>
            <a:r>
              <a:rPr lang="en-US" sz="1800" b="1" baseline="-25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270 = </a:t>
            </a:r>
            <a:r>
              <a:rPr lang="en-US" sz="1800" b="1" dirty="0">
                <a:latin typeface="Times New Roman" panose="02020603050405020304" pitchFamily="18" charset="0"/>
                <a:ea typeface="Times New Roman" panose="02020603050405020304" pitchFamily="18" charset="0"/>
              </a:rPr>
              <a:t>2.266151 </a:t>
            </a:r>
            <a:r>
              <a:rPr lang="en-US" sz="1800" b="1" dirty="0">
                <a:effectLst/>
                <a:latin typeface="Times New Roman" panose="02020603050405020304" pitchFamily="18" charset="0"/>
                <a:ea typeface="Times New Roman" panose="02020603050405020304" pitchFamily="18" charset="0"/>
              </a:rPr>
              <a:t>x 10</a:t>
            </a:r>
            <a:r>
              <a:rPr lang="en-US" sz="1800" b="1" baseline="30000" dirty="0">
                <a:effectLst/>
                <a:latin typeface="Times New Roman" panose="02020603050405020304" pitchFamily="18" charset="0"/>
                <a:ea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rPr>
              <a:t> mm</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5 x 270 = </a:t>
            </a:r>
            <a:r>
              <a:rPr lang="en-US" sz="1800" b="1" dirty="0">
                <a:latin typeface="Times New Roman" panose="02020603050405020304" pitchFamily="18" charset="0"/>
                <a:ea typeface="Times New Roman" panose="02020603050405020304" pitchFamily="18" charset="0"/>
              </a:rPr>
              <a:t>1.679</a:t>
            </a:r>
            <a:r>
              <a:rPr lang="en-US" sz="1800" b="1" dirty="0">
                <a:effectLst/>
                <a:latin typeface="Times New Roman" panose="02020603050405020304" pitchFamily="18" charset="0"/>
                <a:ea typeface="Times New Roman" panose="02020603050405020304" pitchFamily="18" charset="0"/>
              </a:rPr>
              <a:t> x 10</a:t>
            </a:r>
            <a:r>
              <a:rPr lang="en-US" sz="1800" b="1" baseline="30000" dirty="0">
                <a:effectLst/>
                <a:latin typeface="Times New Roman" panose="02020603050405020304" pitchFamily="18" charset="0"/>
                <a:ea typeface="Times New Roman" panose="02020603050405020304" pitchFamily="18" charset="0"/>
              </a:rPr>
              <a:t>-4</a:t>
            </a:r>
            <a:r>
              <a:rPr lang="en-US" sz="1800" b="1" dirty="0">
                <a:effectLst/>
                <a:latin typeface="Times New Roman" panose="02020603050405020304" pitchFamily="18" charset="0"/>
                <a:ea typeface="Times New Roman" panose="02020603050405020304" pitchFamily="18" charset="0"/>
              </a:rPr>
              <a:t> mm </a:t>
            </a:r>
            <a:r>
              <a:rPr lang="en-US" sz="1800" b="1" baseline="30000" dirty="0">
                <a:effectLst/>
                <a:latin typeface="Times New Roman" panose="02020603050405020304" pitchFamily="18" charset="0"/>
                <a:ea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rPr>
              <a:t>/ Nm</a:t>
            </a:r>
          </a:p>
          <a:p>
            <a:pPr marL="0" indent="0" algn="just">
              <a:buNone/>
            </a:pPr>
            <a:endParaRPr lang="en-US" dirty="0"/>
          </a:p>
        </p:txBody>
      </p:sp>
    </p:spTree>
    <p:extLst>
      <p:ext uri="{BB962C8B-B14F-4D97-AF65-F5344CB8AC3E}">
        <p14:creationId xmlns:p14="http://schemas.microsoft.com/office/powerpoint/2010/main" val="3961257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Wear Rate</a:t>
            </a:r>
          </a:p>
        </p:txBody>
      </p:sp>
      <p:pic>
        <p:nvPicPr>
          <p:cNvPr id="36" name="Picture 35">
            <a:extLst>
              <a:ext uri="{FF2B5EF4-FFF2-40B4-BE49-F238E27FC236}">
                <a16:creationId xmlns:a16="http://schemas.microsoft.com/office/drawing/2014/main" id="{FD49B3BC-1474-4BF6-9E90-2FC64572C2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77857" y="2490436"/>
            <a:ext cx="5989254" cy="3599924"/>
          </a:xfrm>
          <a:prstGeom prst="rect">
            <a:avLst/>
          </a:prstGeom>
        </p:spPr>
      </p:pic>
    </p:spTree>
    <p:extLst>
      <p:ext uri="{BB962C8B-B14F-4D97-AF65-F5344CB8AC3E}">
        <p14:creationId xmlns:p14="http://schemas.microsoft.com/office/powerpoint/2010/main" val="2155693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Results Tribology Testing (Square)</a:t>
            </a:r>
          </a:p>
        </p:txBody>
      </p:sp>
      <p:pic>
        <p:nvPicPr>
          <p:cNvPr id="11" name="Content Placeholder 10">
            <a:extLst>
              <a:ext uri="{FF2B5EF4-FFF2-40B4-BE49-F238E27FC236}">
                <a16:creationId xmlns:a16="http://schemas.microsoft.com/office/drawing/2014/main" id="{CDA2416D-1B00-47F9-AC60-185732E624D5}"/>
              </a:ext>
            </a:extLst>
          </p:cNvPr>
          <p:cNvPicPr>
            <a:picLocks noGrp="1"/>
          </p:cNvPicPr>
          <p:nvPr>
            <p:ph idx="1"/>
          </p:nvPr>
        </p:nvPicPr>
        <p:blipFill>
          <a:blip r:embed="rId2"/>
          <a:stretch>
            <a:fillRect/>
          </a:stretch>
        </p:blipFill>
        <p:spPr>
          <a:xfrm>
            <a:off x="611322" y="2678287"/>
            <a:ext cx="4730699" cy="3341969"/>
          </a:xfrm>
          <a:prstGeom prst="rect">
            <a:avLst/>
          </a:prstGeom>
        </p:spPr>
      </p:pic>
      <p:sp>
        <p:nvSpPr>
          <p:cNvPr id="3" name="TextBox 2">
            <a:extLst>
              <a:ext uri="{FF2B5EF4-FFF2-40B4-BE49-F238E27FC236}">
                <a16:creationId xmlns:a16="http://schemas.microsoft.com/office/drawing/2014/main" id="{5B4BE303-3525-43B0-8FB0-1347CEB5411F}"/>
              </a:ext>
            </a:extLst>
          </p:cNvPr>
          <p:cNvSpPr txBox="1"/>
          <p:nvPr/>
        </p:nvSpPr>
        <p:spPr>
          <a:xfrm flipH="1">
            <a:off x="1119322" y="6057608"/>
            <a:ext cx="3997136" cy="369332"/>
          </a:xfrm>
          <a:prstGeom prst="rect">
            <a:avLst/>
          </a:prstGeom>
          <a:noFill/>
        </p:spPr>
        <p:txBody>
          <a:bodyPr wrap="square" rtlCol="0">
            <a:spAutoFit/>
          </a:bodyPr>
          <a:lstStyle/>
          <a:p>
            <a:r>
              <a:rPr lang="en-US" sz="1800" b="1" dirty="0">
                <a:effectLst/>
                <a:latin typeface="Times New Roman" panose="02020603050405020304" pitchFamily="18" charset="0"/>
                <a:ea typeface="Times New Roman" panose="02020603050405020304" pitchFamily="18" charset="0"/>
              </a:rPr>
              <a:t>Figure 11: 2D view of wear scar</a:t>
            </a:r>
            <a:endParaRPr lang="en-US" b="1" dirty="0"/>
          </a:p>
        </p:txBody>
      </p:sp>
      <p:pic>
        <p:nvPicPr>
          <p:cNvPr id="13" name="Picture 12">
            <a:extLst>
              <a:ext uri="{FF2B5EF4-FFF2-40B4-BE49-F238E27FC236}">
                <a16:creationId xmlns:a16="http://schemas.microsoft.com/office/drawing/2014/main" id="{6D6C415A-BFC3-4E05-8195-03CF1AB5E28C}"/>
              </a:ext>
            </a:extLst>
          </p:cNvPr>
          <p:cNvPicPr/>
          <p:nvPr/>
        </p:nvPicPr>
        <p:blipFill rotWithShape="1">
          <a:blip r:embed="rId3"/>
          <a:srcRect l="8190"/>
          <a:stretch/>
        </p:blipFill>
        <p:spPr>
          <a:xfrm>
            <a:off x="6007709" y="2780486"/>
            <a:ext cx="5741920" cy="3239770"/>
          </a:xfrm>
          <a:prstGeom prst="rect">
            <a:avLst/>
          </a:prstGeom>
        </p:spPr>
      </p:pic>
      <p:sp>
        <p:nvSpPr>
          <p:cNvPr id="15" name="TextBox 14">
            <a:extLst>
              <a:ext uri="{FF2B5EF4-FFF2-40B4-BE49-F238E27FC236}">
                <a16:creationId xmlns:a16="http://schemas.microsoft.com/office/drawing/2014/main" id="{F024A6A6-DE94-4E1B-AC5D-6D8341A982F7}"/>
              </a:ext>
            </a:extLst>
          </p:cNvPr>
          <p:cNvSpPr txBox="1"/>
          <p:nvPr/>
        </p:nvSpPr>
        <p:spPr>
          <a:xfrm flipH="1">
            <a:off x="6766918" y="6030354"/>
            <a:ext cx="3997136" cy="369332"/>
          </a:xfrm>
          <a:prstGeom prst="rect">
            <a:avLst/>
          </a:prstGeom>
          <a:noFill/>
        </p:spPr>
        <p:txBody>
          <a:bodyPr wrap="square" rtlCol="0">
            <a:spAutoFit/>
          </a:bodyPr>
          <a:lstStyle/>
          <a:p>
            <a:r>
              <a:rPr lang="en-US" sz="1800" b="1" dirty="0">
                <a:effectLst/>
                <a:latin typeface="Times New Roman" panose="02020603050405020304" pitchFamily="18" charset="0"/>
                <a:ea typeface="Times New Roman" panose="02020603050405020304" pitchFamily="18" charset="0"/>
              </a:rPr>
              <a:t>Figure 12:  3D view of wear scar</a:t>
            </a:r>
            <a:endParaRPr lang="en-US" b="1" dirty="0"/>
          </a:p>
        </p:txBody>
      </p:sp>
    </p:spTree>
    <p:extLst>
      <p:ext uri="{BB962C8B-B14F-4D97-AF65-F5344CB8AC3E}">
        <p14:creationId xmlns:p14="http://schemas.microsoft.com/office/powerpoint/2010/main" val="1598925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Results Tribology Testing (Circular)</a:t>
            </a:r>
          </a:p>
        </p:txBody>
      </p:sp>
      <p:pic>
        <p:nvPicPr>
          <p:cNvPr id="11" name="Content Placeholder 10">
            <a:extLst>
              <a:ext uri="{FF2B5EF4-FFF2-40B4-BE49-F238E27FC236}">
                <a16:creationId xmlns:a16="http://schemas.microsoft.com/office/drawing/2014/main" id="{CDA2416D-1B00-47F9-AC60-185732E624D5}"/>
              </a:ext>
            </a:extLst>
          </p:cNvPr>
          <p:cNvPicPr>
            <a:picLocks noGrp="1"/>
          </p:cNvPicPr>
          <p:nvPr>
            <p:ph idx="1"/>
          </p:nvPr>
        </p:nvPicPr>
        <p:blipFill>
          <a:blip r:embed="rId2">
            <a:extLst>
              <a:ext uri="{28A0092B-C50C-407E-A947-70E740481C1C}">
                <a14:useLocalDpi xmlns:a14="http://schemas.microsoft.com/office/drawing/2010/main" val="0"/>
              </a:ext>
            </a:extLst>
          </a:blip>
          <a:srcRect/>
          <a:stretch/>
        </p:blipFill>
        <p:spPr>
          <a:xfrm>
            <a:off x="644055" y="2716666"/>
            <a:ext cx="4730699" cy="3265210"/>
          </a:xfrm>
          <a:prstGeom prst="rect">
            <a:avLst/>
          </a:prstGeom>
        </p:spPr>
      </p:pic>
      <p:sp>
        <p:nvSpPr>
          <p:cNvPr id="3" name="TextBox 2">
            <a:extLst>
              <a:ext uri="{FF2B5EF4-FFF2-40B4-BE49-F238E27FC236}">
                <a16:creationId xmlns:a16="http://schemas.microsoft.com/office/drawing/2014/main" id="{5B4BE303-3525-43B0-8FB0-1347CEB5411F}"/>
              </a:ext>
            </a:extLst>
          </p:cNvPr>
          <p:cNvSpPr txBox="1"/>
          <p:nvPr/>
        </p:nvSpPr>
        <p:spPr>
          <a:xfrm flipH="1">
            <a:off x="1119322" y="6057608"/>
            <a:ext cx="3997136" cy="369332"/>
          </a:xfrm>
          <a:prstGeom prst="rect">
            <a:avLst/>
          </a:prstGeom>
          <a:noFill/>
        </p:spPr>
        <p:txBody>
          <a:bodyPr wrap="square" rtlCol="0">
            <a:spAutoFit/>
          </a:bodyPr>
          <a:lstStyle/>
          <a:p>
            <a:r>
              <a:rPr lang="en-US" sz="1800" b="1" dirty="0">
                <a:effectLst/>
                <a:latin typeface="Times New Roman" panose="02020603050405020304" pitchFamily="18" charset="0"/>
                <a:ea typeface="Times New Roman" panose="02020603050405020304" pitchFamily="18" charset="0"/>
              </a:rPr>
              <a:t>Figure 11: 2D view of wear scar</a:t>
            </a:r>
            <a:endParaRPr lang="en-US" b="1" dirty="0"/>
          </a:p>
        </p:txBody>
      </p:sp>
      <p:pic>
        <p:nvPicPr>
          <p:cNvPr id="13" name="Picture 12">
            <a:extLst>
              <a:ext uri="{FF2B5EF4-FFF2-40B4-BE49-F238E27FC236}">
                <a16:creationId xmlns:a16="http://schemas.microsoft.com/office/drawing/2014/main" id="{6D6C415A-BFC3-4E05-8195-03CF1AB5E28C}"/>
              </a:ext>
            </a:extLst>
          </p:cNvPr>
          <p:cNvPicPr/>
          <p:nvPr/>
        </p:nvPicPr>
        <p:blipFill rotWithShape="1">
          <a:blip r:embed="rId3">
            <a:extLst>
              <a:ext uri="{28A0092B-C50C-407E-A947-70E740481C1C}">
                <a14:useLocalDpi xmlns:a14="http://schemas.microsoft.com/office/drawing/2010/main" val="0"/>
              </a:ext>
            </a:extLst>
          </a:blip>
          <a:srcRect l="9081" t="5560" r="6545" b="5560"/>
          <a:stretch/>
        </p:blipFill>
        <p:spPr>
          <a:xfrm>
            <a:off x="5887453" y="2780486"/>
            <a:ext cx="5486400" cy="3201390"/>
          </a:xfrm>
          <a:prstGeom prst="rect">
            <a:avLst/>
          </a:prstGeom>
        </p:spPr>
      </p:pic>
      <p:sp>
        <p:nvSpPr>
          <p:cNvPr id="15" name="TextBox 14">
            <a:extLst>
              <a:ext uri="{FF2B5EF4-FFF2-40B4-BE49-F238E27FC236}">
                <a16:creationId xmlns:a16="http://schemas.microsoft.com/office/drawing/2014/main" id="{F024A6A6-DE94-4E1B-AC5D-6D8341A982F7}"/>
              </a:ext>
            </a:extLst>
          </p:cNvPr>
          <p:cNvSpPr txBox="1"/>
          <p:nvPr/>
        </p:nvSpPr>
        <p:spPr>
          <a:xfrm flipH="1">
            <a:off x="6766918" y="6030354"/>
            <a:ext cx="3997136" cy="369332"/>
          </a:xfrm>
          <a:prstGeom prst="rect">
            <a:avLst/>
          </a:prstGeom>
          <a:noFill/>
        </p:spPr>
        <p:txBody>
          <a:bodyPr wrap="square" rtlCol="0">
            <a:spAutoFit/>
          </a:bodyPr>
          <a:lstStyle/>
          <a:p>
            <a:r>
              <a:rPr lang="en-US" sz="1800" b="1" dirty="0">
                <a:effectLst/>
                <a:latin typeface="Times New Roman" panose="02020603050405020304" pitchFamily="18" charset="0"/>
                <a:ea typeface="Times New Roman" panose="02020603050405020304" pitchFamily="18" charset="0"/>
              </a:rPr>
              <a:t>Figure 12:  3D view of wear scar</a:t>
            </a:r>
            <a:endParaRPr lang="en-US" b="1" dirty="0"/>
          </a:p>
        </p:txBody>
      </p:sp>
    </p:spTree>
    <p:extLst>
      <p:ext uri="{BB962C8B-B14F-4D97-AF65-F5344CB8AC3E}">
        <p14:creationId xmlns:p14="http://schemas.microsoft.com/office/powerpoint/2010/main" val="2103914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Conclusion </a:t>
            </a:r>
          </a:p>
        </p:txBody>
      </p:sp>
      <p:sp>
        <p:nvSpPr>
          <p:cNvPr id="4" name="Content Placeholder 3">
            <a:extLst>
              <a:ext uri="{FF2B5EF4-FFF2-40B4-BE49-F238E27FC236}">
                <a16:creationId xmlns:a16="http://schemas.microsoft.com/office/drawing/2014/main" id="{725C79FB-8279-4C11-A10A-FC2FE7354601}"/>
              </a:ext>
            </a:extLst>
          </p:cNvPr>
          <p:cNvSpPr>
            <a:spLocks noGrp="1"/>
          </p:cNvSpPr>
          <p:nvPr>
            <p:ph idx="1"/>
          </p:nvPr>
        </p:nvSpPr>
        <p:spPr>
          <a:xfrm>
            <a:off x="1047280" y="2812886"/>
            <a:ext cx="10315938" cy="3652081"/>
          </a:xfrm>
        </p:spPr>
        <p:txBody>
          <a:bodyPr>
            <a:normAutofit fontScale="92500" lnSpcReduction="10000"/>
          </a:bodyPr>
          <a:lstStyle/>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dirty="0">
                <a:solidFill>
                  <a:prstClr val="black"/>
                </a:solidFill>
                <a:latin typeface="Constantia"/>
              </a:rPr>
              <a:t>It has been seen that the properties of Al-Si alloy improves after texturing the surface.</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dirty="0">
                <a:solidFill>
                  <a:prstClr val="black"/>
                </a:solidFill>
                <a:latin typeface="Constantia"/>
              </a:rPr>
              <a:t>The coefficient of friction in sample having square pits is first decreasing then abruptly increasing and in sample having circular pits it is decreasing.</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dirty="0">
                <a:solidFill>
                  <a:prstClr val="black"/>
                </a:solidFill>
                <a:latin typeface="Constantia"/>
              </a:rPr>
              <a:t>While performing the tribological tests, we observed that the wear rate in both the samples is  decreasing, whereas, is decreasing more in sample having circular pits.</a:t>
            </a:r>
          </a:p>
          <a:p>
            <a:pPr marL="36900" marR="0" lvl="0" indent="0" algn="just" defTabSz="914400" rtl="0" eaLnBrk="1" fontAlgn="auto" latinLnBrk="0" hangingPunct="1">
              <a:lnSpc>
                <a:spcPct val="100000"/>
              </a:lnSpc>
              <a:spcBef>
                <a:spcPct val="20000"/>
              </a:spcBef>
              <a:spcAft>
                <a:spcPts val="1000"/>
              </a:spcAft>
              <a:buClr>
                <a:srgbClr val="0BD0D9"/>
              </a:buClr>
              <a:buSzPct val="90000"/>
              <a:buNone/>
              <a:tabLst/>
              <a:defRPr/>
            </a:pPr>
            <a:endParaRPr kumimoji="0" lang="en-US" sz="2800" b="0" i="0" u="none" strike="noStrike" kern="1200" cap="none" spc="0" normalizeH="0" baseline="0" noProof="0" dirty="0">
              <a:ln>
                <a:noFill/>
              </a:ln>
              <a:solidFill>
                <a:prstClr val="black"/>
              </a:solidFill>
              <a:effectLst/>
              <a:uLnTx/>
              <a:uFillTx/>
              <a:latin typeface="Constantia"/>
              <a:ea typeface="+mn-ea"/>
              <a:cs typeface="+mn-cs"/>
            </a:endParaRPr>
          </a:p>
          <a:p>
            <a:pPr marL="0" indent="0" algn="just">
              <a:buNone/>
            </a:pPr>
            <a:endParaRPr lang="en-US" sz="4000" dirty="0"/>
          </a:p>
          <a:p>
            <a:pPr marL="0" indent="0" algn="just">
              <a:buNone/>
            </a:pPr>
            <a:endParaRPr lang="en-US" dirty="0"/>
          </a:p>
        </p:txBody>
      </p:sp>
    </p:spTree>
    <p:extLst>
      <p:ext uri="{BB962C8B-B14F-4D97-AF65-F5344CB8AC3E}">
        <p14:creationId xmlns:p14="http://schemas.microsoft.com/office/powerpoint/2010/main" val="1421921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2376198C-6D2D-457C-9334-AF736121A205}"/>
              </a:ext>
            </a:extLst>
          </p:cNvPr>
          <p:cNvSpPr>
            <a:spLocks noGrp="1"/>
          </p:cNvSpPr>
          <p:nvPr>
            <p:ph type="title"/>
          </p:nvPr>
        </p:nvSpPr>
        <p:spPr>
          <a:xfrm>
            <a:off x="958506" y="800392"/>
            <a:ext cx="10264697" cy="1212102"/>
          </a:xfrm>
        </p:spPr>
        <p:txBody>
          <a:bodyPr>
            <a:normAutofit/>
          </a:bodyPr>
          <a:lstStyle/>
          <a:p>
            <a:r>
              <a:rPr lang="en-US" sz="4000" dirty="0">
                <a:solidFill>
                  <a:srgbClr val="FFFFFF"/>
                </a:solidFill>
              </a:rPr>
              <a:t>References</a:t>
            </a:r>
          </a:p>
        </p:txBody>
      </p:sp>
      <p:sp>
        <p:nvSpPr>
          <p:cNvPr id="4" name="Content Placeholder 3">
            <a:extLst>
              <a:ext uri="{FF2B5EF4-FFF2-40B4-BE49-F238E27FC236}">
                <a16:creationId xmlns:a16="http://schemas.microsoft.com/office/drawing/2014/main" id="{725C79FB-8279-4C11-A10A-FC2FE7354601}"/>
              </a:ext>
            </a:extLst>
          </p:cNvPr>
          <p:cNvSpPr>
            <a:spLocks noGrp="1"/>
          </p:cNvSpPr>
          <p:nvPr>
            <p:ph idx="1"/>
          </p:nvPr>
        </p:nvSpPr>
        <p:spPr>
          <a:xfrm>
            <a:off x="1047280" y="2812886"/>
            <a:ext cx="10315938" cy="3652081"/>
          </a:xfrm>
        </p:spPr>
        <p:txBody>
          <a:bodyPr>
            <a:normAutofit fontScale="55000" lnSpcReduction="20000"/>
          </a:bodyPr>
          <a:lstStyle/>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dirty="0">
                <a:solidFill>
                  <a:prstClr val="black"/>
                </a:solidFill>
                <a:latin typeface="Constantia"/>
              </a:rPr>
              <a:t>Kittel, C., </a:t>
            </a:r>
            <a:r>
              <a:rPr lang="en-US" dirty="0" err="1">
                <a:solidFill>
                  <a:prstClr val="black"/>
                </a:solidFill>
                <a:latin typeface="Constantia"/>
              </a:rPr>
              <a:t>McEuen</a:t>
            </a:r>
            <a:r>
              <a:rPr lang="en-US" dirty="0">
                <a:solidFill>
                  <a:prstClr val="black"/>
                </a:solidFill>
                <a:latin typeface="Constantia"/>
              </a:rPr>
              <a:t>, P., &amp;</a:t>
            </a:r>
            <a:r>
              <a:rPr lang="en-US" dirty="0" err="1">
                <a:solidFill>
                  <a:prstClr val="black"/>
                </a:solidFill>
                <a:latin typeface="Constantia"/>
              </a:rPr>
              <a:t>McEuen</a:t>
            </a:r>
            <a:r>
              <a:rPr lang="en-US" dirty="0">
                <a:solidFill>
                  <a:prstClr val="black"/>
                </a:solidFill>
                <a:latin typeface="Constantia"/>
              </a:rPr>
              <a:t>, P. (1996). Introduction to solid state physics (Vol. 8, pp. 105-130). New York: Wiley.</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dirty="0">
                <a:solidFill>
                  <a:prstClr val="black"/>
                </a:solidFill>
                <a:latin typeface="Constantia"/>
              </a:rPr>
              <a:t>Yeo, C. Y., Tam, S. C., Jana, S., &amp; Lau, M. W. (1994). A technical review of the laser drilling of aerospace materials. Journal of materials processing technology, 42(1), 15-49.</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dirty="0" err="1">
                <a:solidFill>
                  <a:prstClr val="black"/>
                </a:solidFill>
                <a:latin typeface="Constantia"/>
              </a:rPr>
              <a:t>Semaltianos</a:t>
            </a:r>
            <a:r>
              <a:rPr lang="en-US" dirty="0">
                <a:solidFill>
                  <a:prstClr val="black"/>
                </a:solidFill>
                <a:latin typeface="Constantia"/>
              </a:rPr>
              <a:t>, N. G., </a:t>
            </a:r>
            <a:r>
              <a:rPr lang="en-US" dirty="0" err="1">
                <a:solidFill>
                  <a:prstClr val="black"/>
                </a:solidFill>
                <a:latin typeface="Constantia"/>
              </a:rPr>
              <a:t>Perrie</a:t>
            </a:r>
            <a:r>
              <a:rPr lang="en-US" dirty="0">
                <a:solidFill>
                  <a:prstClr val="black"/>
                </a:solidFill>
                <a:latin typeface="Constantia"/>
              </a:rPr>
              <a:t>, W., French, P., Sharp, M., Dearden, G., </a:t>
            </a:r>
            <a:r>
              <a:rPr lang="en-US" dirty="0" err="1">
                <a:solidFill>
                  <a:prstClr val="black"/>
                </a:solidFill>
                <a:latin typeface="Constantia"/>
              </a:rPr>
              <a:t>Logothetidis</a:t>
            </a:r>
            <a:r>
              <a:rPr lang="en-US" dirty="0">
                <a:solidFill>
                  <a:prstClr val="black"/>
                </a:solidFill>
                <a:latin typeface="Constantia"/>
              </a:rPr>
              <a:t>, S., &amp; Watkins, K. G. (2009). Femtosecond laser ablation characteristics of </a:t>
            </a:r>
            <a:r>
              <a:rPr lang="en-US" dirty="0" err="1">
                <a:solidFill>
                  <a:prstClr val="black"/>
                </a:solidFill>
                <a:latin typeface="Constantia"/>
              </a:rPr>
              <a:t>aluminium</a:t>
            </a:r>
            <a:r>
              <a:rPr lang="en-US" dirty="0">
                <a:solidFill>
                  <a:prstClr val="black"/>
                </a:solidFill>
                <a:latin typeface="Constantia"/>
              </a:rPr>
              <a:t>. Applied Physics A, 94(4), 999-1009.</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dirty="0" err="1">
                <a:solidFill>
                  <a:prstClr val="black"/>
                </a:solidFill>
                <a:latin typeface="Constantia"/>
              </a:rPr>
              <a:t>Jee</a:t>
            </a:r>
            <a:r>
              <a:rPr lang="en-US" dirty="0">
                <a:solidFill>
                  <a:prstClr val="black"/>
                </a:solidFill>
                <a:latin typeface="Constantia"/>
              </a:rPr>
              <a:t>, Y., Becker, M. F., &amp; Walser, R. M. (1988). Laser-induced damage on single-crystal metal surfaces. JOSA B, 5(3), 648-659.</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sz="2700" dirty="0">
                <a:solidFill>
                  <a:prstClr val="black"/>
                </a:solidFill>
                <a:latin typeface="Constantia"/>
              </a:rPr>
              <a:t>R. Sehgal, Experimental measurement of oil film temperatures of elliptical journal bearing profile using different grade oils, Tribology online 5 (6) (2010) 291–299. </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sz="2700" dirty="0">
                <a:solidFill>
                  <a:prstClr val="black"/>
                </a:solidFill>
                <a:latin typeface="Constantia"/>
              </a:rPr>
              <a:t>A. Chauhan, R. Sehgal, An experimental determination of temperature profile in an offset-halves journal bearing with different oils, Tribology Online 2 (3) (2007) 83–88. </a:t>
            </a:r>
          </a:p>
          <a:p>
            <a:pPr marL="379800" indent="-342900" algn="just">
              <a:lnSpc>
                <a:spcPct val="100000"/>
              </a:lnSpc>
              <a:spcBef>
                <a:spcPct val="20000"/>
              </a:spcBef>
              <a:spcAft>
                <a:spcPts val="1000"/>
              </a:spcAft>
              <a:buClr>
                <a:srgbClr val="0BD0D9"/>
              </a:buClr>
              <a:buSzPct val="90000"/>
              <a:buFont typeface="Wingdings" pitchFamily="2" charset="2"/>
              <a:buChar char="q"/>
              <a:defRPr/>
            </a:pPr>
            <a:r>
              <a:rPr lang="en-US" sz="2700" dirty="0">
                <a:solidFill>
                  <a:prstClr val="black"/>
                </a:solidFill>
                <a:latin typeface="Constantia"/>
              </a:rPr>
              <a:t>A. Chauhan, R. Sehgal, R.K. Sharma, Investigations on the thermal effects in non-circular journal bearings, </a:t>
            </a:r>
            <a:r>
              <a:rPr lang="en-US" sz="2700" dirty="0" err="1">
                <a:solidFill>
                  <a:prstClr val="black"/>
                </a:solidFill>
                <a:latin typeface="Constantia"/>
              </a:rPr>
              <a:t>Tribol</a:t>
            </a:r>
            <a:r>
              <a:rPr lang="en-US" sz="2700" dirty="0">
                <a:solidFill>
                  <a:prstClr val="black"/>
                </a:solidFill>
                <a:latin typeface="Constantia"/>
              </a:rPr>
              <a:t>. Int. 44 (12) (2011) 1765–1773. </a:t>
            </a:r>
          </a:p>
          <a:p>
            <a:pPr marL="36900" marR="0" lvl="0" indent="0" algn="just" defTabSz="914400" rtl="0" eaLnBrk="1" fontAlgn="auto" latinLnBrk="0" hangingPunct="1">
              <a:lnSpc>
                <a:spcPct val="100000"/>
              </a:lnSpc>
              <a:spcBef>
                <a:spcPct val="20000"/>
              </a:spcBef>
              <a:spcAft>
                <a:spcPts val="1000"/>
              </a:spcAft>
              <a:buClr>
                <a:srgbClr val="0BD0D9"/>
              </a:buClr>
              <a:buSzPct val="90000"/>
              <a:buNone/>
              <a:tabLst/>
              <a:defRPr/>
            </a:pPr>
            <a:endParaRPr kumimoji="0" lang="en-US" sz="2800" b="0" i="0" u="none" strike="noStrike" kern="1200" cap="none" spc="0" normalizeH="0" baseline="0" noProof="0" dirty="0">
              <a:ln>
                <a:noFill/>
              </a:ln>
              <a:solidFill>
                <a:prstClr val="black"/>
              </a:solidFill>
              <a:effectLst/>
              <a:uLnTx/>
              <a:uFillTx/>
              <a:latin typeface="Constantia"/>
              <a:ea typeface="+mn-ea"/>
              <a:cs typeface="+mn-cs"/>
            </a:endParaRPr>
          </a:p>
          <a:p>
            <a:pPr marL="0" indent="0" algn="just">
              <a:buNone/>
            </a:pPr>
            <a:endParaRPr lang="en-US" sz="4000" dirty="0"/>
          </a:p>
          <a:p>
            <a:pPr marL="0" indent="0" algn="just">
              <a:buNone/>
            </a:pPr>
            <a:endParaRPr lang="en-US" dirty="0"/>
          </a:p>
        </p:txBody>
      </p:sp>
    </p:spTree>
    <p:extLst>
      <p:ext uri="{BB962C8B-B14F-4D97-AF65-F5344CB8AC3E}">
        <p14:creationId xmlns:p14="http://schemas.microsoft.com/office/powerpoint/2010/main" val="3978798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643BE6C-86B7-4AB9-91E8-9B5DB45AC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0"/>
            <a:ext cx="12188825" cy="4242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C8CC697-3BFE-4381-8915-0CDD748EA5C9}"/>
              </a:ext>
            </a:extLst>
          </p:cNvPr>
          <p:cNvSpPr>
            <a:spLocks noGrp="1"/>
          </p:cNvSpPr>
          <p:nvPr>
            <p:ph type="title"/>
          </p:nvPr>
        </p:nvSpPr>
        <p:spPr>
          <a:xfrm>
            <a:off x="1293026" y="713195"/>
            <a:ext cx="9605948" cy="2318665"/>
          </a:xfrm>
        </p:spPr>
        <p:txBody>
          <a:bodyPr vert="horz" lIns="91440" tIns="45720" rIns="91440" bIns="45720" rtlCol="0" anchor="b">
            <a:normAutofit/>
          </a:bodyPr>
          <a:lstStyle/>
          <a:p>
            <a:pPr algn="ctr"/>
            <a:r>
              <a:rPr lang="en-US" sz="5400" kern="1200">
                <a:solidFill>
                  <a:srgbClr val="FFFFFF"/>
                </a:solidFill>
                <a:latin typeface="+mj-lt"/>
                <a:ea typeface="+mj-ea"/>
                <a:cs typeface="+mj-cs"/>
              </a:rPr>
              <a:t>Thank You</a:t>
            </a:r>
          </a:p>
        </p:txBody>
      </p:sp>
      <p:pic>
        <p:nvPicPr>
          <p:cNvPr id="24" name="Graphic 23" descr="Smiling Face with No Fill">
            <a:extLst>
              <a:ext uri="{FF2B5EF4-FFF2-40B4-BE49-F238E27FC236}">
                <a16:creationId xmlns:a16="http://schemas.microsoft.com/office/drawing/2014/main" id="{270F4876-5F36-48FF-8A63-F572062357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6089" y="4805363"/>
            <a:ext cx="1179824" cy="1179824"/>
          </a:xfrm>
          <a:prstGeom prst="rect">
            <a:avLst/>
          </a:prstGeom>
        </p:spPr>
      </p:pic>
    </p:spTree>
    <p:extLst>
      <p:ext uri="{BB962C8B-B14F-4D97-AF65-F5344CB8AC3E}">
        <p14:creationId xmlns:p14="http://schemas.microsoft.com/office/powerpoint/2010/main" val="2509237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TotalTime>
  <Words>1341</Words>
  <Application>Microsoft Office PowerPoint</Application>
  <PresentationFormat>Widescreen</PresentationFormat>
  <Paragraphs>149</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Calibri Light</vt:lpstr>
      <vt:lpstr>Constantia</vt:lpstr>
      <vt:lpstr>New times roman</vt:lpstr>
      <vt:lpstr>Times New Roman</vt:lpstr>
      <vt:lpstr>Wingdings</vt:lpstr>
      <vt:lpstr>Wingdings 2</vt:lpstr>
      <vt:lpstr>Office Theme</vt:lpstr>
      <vt:lpstr>Laser Surface  Texturing of Aluminium Alloy for Bearing application </vt:lpstr>
      <vt:lpstr>PowerPoint Presentation</vt:lpstr>
      <vt:lpstr>Introduction</vt:lpstr>
      <vt:lpstr>Why Laser Surface Texturing?</vt:lpstr>
      <vt:lpstr>Literature Survey.</vt:lpstr>
      <vt:lpstr>Research Gap</vt:lpstr>
      <vt:lpstr>Objective</vt:lpstr>
      <vt:lpstr>Methodology</vt:lpstr>
      <vt:lpstr>Procurement and Cutting</vt:lpstr>
      <vt:lpstr>Moulding</vt:lpstr>
      <vt:lpstr>Polishing</vt:lpstr>
      <vt:lpstr>3-D Profilometer</vt:lpstr>
      <vt:lpstr>Laser Surface Texturing</vt:lpstr>
      <vt:lpstr>Results</vt:lpstr>
      <vt:lpstr>Surface Roughness</vt:lpstr>
      <vt:lpstr>Laser Texturing (Square)</vt:lpstr>
      <vt:lpstr>Laser Texturing (Circular)</vt:lpstr>
      <vt:lpstr>Tribological Tests</vt:lpstr>
      <vt:lpstr>Coefficient of Friction</vt:lpstr>
      <vt:lpstr>Mathematical Analysis of Wear Rate (Circular)</vt:lpstr>
      <vt:lpstr>Mathematical Analysis of Wear Rate (Square)</vt:lpstr>
      <vt:lpstr>Wear Rate</vt:lpstr>
      <vt:lpstr>Results Tribology Testing (Square)</vt:lpstr>
      <vt:lpstr>Results Tribology Testing (Circular)</vt:lpstr>
      <vt:lpstr>Conclusion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MATRICIES</dc:title>
  <dc:creator>Manzoor, Wajid</dc:creator>
  <cp:lastModifiedBy>Manzoor, Wajid</cp:lastModifiedBy>
  <cp:revision>37</cp:revision>
  <dcterms:created xsi:type="dcterms:W3CDTF">2021-11-26T04:25:47Z</dcterms:created>
  <dcterms:modified xsi:type="dcterms:W3CDTF">2021-11-28T08:42:04Z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2021-11-26T04:25:47Z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ef3c73f1-8f2c-4616-9f9c-a07be2e6402c</vt:lpwstr>
  </property>
  <property fmtid="{D5CDD505-2E9C-101B-9397-08002B2CF9AE}" pid="8" name="MSIP_Label_ea60d57e-af5b-4752-ac57-3e4f28ca11dc_ContentBits">
    <vt:lpwstr>0</vt:lpwstr>
  </property>
</Properties>
</file>